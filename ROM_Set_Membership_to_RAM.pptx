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3333333" cy="7500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 <Relationship Id="rId2" Type="http://schemas.openxmlformats.org/officeDocument/2006/relationships/slide" Target="slides/slide2.xml"/> <Relationship Id="rId3" Type="http://schemas.openxmlformats.org/officeDocument/2006/relationships/slide" Target="slides/slide3.xml"/> <Relationship Id="rId4" Type="http://schemas.openxmlformats.org/officeDocument/2006/relationships/slide" Target="slides/slide4.xml"/> <Relationship Id="rId5" Type="http://schemas.openxmlformats.org/officeDocument/2006/relationships/slide" Target="slides/slide5.xml"/> <Relationship Id="rId6" Type="http://schemas.openxmlformats.org/officeDocument/2006/relationships/slide" Target="slides/slide6.xml"/> <Relationship Id="rId7" Type="http://schemas.openxmlformats.org/officeDocument/2006/relationships/slide" Target="slides/slide7.xml"/> <Relationship Id="rId8" Type="http://schemas.openxmlformats.org/officeDocument/2006/relationships/slide" Target="slides/slide8.xml"/> <Relationship Id="rId9" Type="http://schemas.openxmlformats.org/officeDocument/2006/relationships/slide" Target="slides/slide9.xml"/> <Relationship Id="rId10" Type="http://schemas.openxmlformats.org/officeDocument/2006/relationships/slide" Target="slides/slide10.xml"/> <Relationship Id="rId11" Type="http://schemas.openxmlformats.org/officeDocument/2006/relationships/slide" Target="slides/slide11.xml"/> <Relationship Id="rId12" Type="http://schemas.openxmlformats.org/officeDocument/2006/relationships/slideMaster" Target="slideMasters/slideMaster1.xml"/> <Relationship Id="rId1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960120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从 ROM 到 RAM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1520" y="182880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2300">
                <a:solidFill>
                  <a:srgbClr val="334155"/>
                </a:solidFill>
                <a:latin typeface="Microsoft YaHei"/>
                <a:ea typeface="Microsoft YaHei"/>
              </a:rPr>
              <a:t>把 PPT 里的 ROM 例子加上 Set Membership Queries，完成 read/write 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" y="2880360"/>
            <a:ext cx="2103120" cy="64008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txBody>
          <a:bodyPr wrap="square" lIns="45720" rIns="45720" tIns="45720" bIns="45720"/>
          <a:lstStyle/>
          <a:p>
            <a:r>
              <a:rPr lang="zh-CN" sz="2200" b="1">
                <a:solidFill>
                  <a:srgbClr val="075985"/>
                </a:solidFill>
                <a:latin typeface="Microsoft YaHei"/>
                <a:ea typeface="Microsoft YaHei"/>
              </a:rPr>
              <a:t>ROM</a:t>
            </a:r>
          </a:p>
        </p:txBody>
      </p:sp>
      <p:cxnSp>
        <p:nvCxnSpPr>
          <p:cNvPr id="5" name="Arrow 5"/>
          <p:cNvCxnSpPr/>
          <p:nvPr/>
        </p:nvCxnSpPr>
        <p:spPr>
          <a:xfrm>
            <a:off x="2971800" y="3200400"/>
            <a:ext cx="914400" cy="0"/>
          </a:xfrm>
          <a:prstGeom prst="straightConnector1">
            <a:avLst/>
          </a:prstGeom>
          <a:ln w="28575">
            <a:solidFill>
              <a:srgbClr val="2563EB"/>
            </a:solidFill>
            <a:tailEnd type="triangle"/>
          </a:ln>
        </p:spPr>
      </p:cxnSp>
      <p:sp>
        <p:nvSpPr>
          <p:cNvPr id="6" name="TextBox 6"/>
          <p:cNvSpPr txBox="1"/>
          <p:nvPr/>
        </p:nvSpPr>
        <p:spPr>
          <a:xfrm>
            <a:off x="4069080" y="2880360"/>
            <a:ext cx="3200400" cy="64008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square" lIns="45720" rIns="45720" tIns="45720" bIns="45720"/>
          <a:lstStyle/>
          <a:p>
            <a:r>
              <a:rPr lang="zh-CN" sz="2000" b="1">
                <a:solidFill>
                  <a:srgbClr val="166534"/>
                </a:solidFill>
                <a:latin typeface="Microsoft YaHei"/>
                <a:ea typeface="Microsoft YaHei"/>
              </a:rPr>
              <a:t>Set Membership</a:t>
            </a:r>
          </a:p>
        </p:txBody>
      </p:sp>
      <p:cxnSp>
        <p:nvCxnSpPr>
          <p:cNvPr id="7" name="Arrow 7"/>
          <p:cNvCxnSpPr/>
          <p:nvPr/>
        </p:nvCxnSpPr>
        <p:spPr>
          <a:xfrm>
            <a:off x="7452360" y="3200400"/>
            <a:ext cx="914400" cy="0"/>
          </a:xfrm>
          <a:prstGeom prst="straightConnector1">
            <a:avLst/>
          </a:prstGeom>
          <a:ln w="28575">
            <a:solidFill>
              <a:srgbClr val="2563EB"/>
            </a:solidFill>
            <a:tailEnd type="triangle"/>
          </a:ln>
        </p:spPr>
      </p:cxnSp>
      <p:sp>
        <p:nvSpPr>
          <p:cNvPr id="8" name="TextBox 8"/>
          <p:cNvSpPr txBox="1"/>
          <p:nvPr/>
        </p:nvSpPr>
        <p:spPr>
          <a:xfrm>
            <a:off x="8549640" y="2880360"/>
            <a:ext cx="2286000" cy="64008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txBody>
          <a:bodyPr wrap="square" lIns="45720" rIns="45720" tIns="45720" bIns="45720"/>
          <a:lstStyle/>
          <a:p>
            <a:r>
              <a:rPr lang="zh-CN" sz="2200" b="1">
                <a:solidFill>
                  <a:srgbClr val="92400E"/>
                </a:solidFill>
                <a:latin typeface="Microsoft YaHei"/>
                <a:ea typeface="Microsoft YaHei"/>
              </a:rPr>
              <a:t>RAM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4672" y="4297680"/>
            <a:ext cx="1069848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rIns="91440" tIns="45720" bIns="45720"/>
          <a:lstStyle/>
          <a:p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Two shuffles:  一个检查 RAM 的 reads ~ writes，另一个检查集合查询的 reads ~ writes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整体路线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6928" y="78638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ROM 解决“读到的是初始化过的值”，Set Membership 解决“读到的是过去写入”。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828800"/>
            <a:ext cx="2514600" cy="594360"/>
          </a:xfrm>
          <a:prstGeom prst="roundRect">
            <a:avLst/>
          </a:prstGeom>
          <a:solidFill>
            <a:srgbClr val="E0E7FF"/>
          </a:solidFill>
          <a:ln w="9525">
            <a:solidFill>
              <a:srgbClr val="4F46E5"/>
            </a:solidFill>
          </a:ln>
        </p:spPr>
        <p:txBody>
          <a:bodyPr wrap="square" lIns="45720" rIns="45720" tIns="45720" bIns="45720"/>
          <a:lstStyle/>
          <a:p>
            <a:r>
              <a:rPr lang="zh-CN" sz="1700" b="1">
                <a:solidFill>
                  <a:srgbClr val="0F172A"/>
                </a:solidFill>
                <a:latin typeface="Microsoft YaHei"/>
                <a:ea typeface="Microsoft YaHei"/>
              </a:rPr>
              <a:t>Permutation Proof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2542032"/>
            <a:ext cx="2514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334155"/>
                </a:solidFill>
                <a:latin typeface="Microsoft YaHei"/>
                <a:ea typeface="Microsoft YaHei"/>
              </a:rPr>
              <a:t>证明两个日志只是重排：reads ~ writes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3246120" y="2130552"/>
            <a:ext cx="457200" cy="0"/>
          </a:xfrm>
          <a:prstGeom prst="straightConnector1">
            <a:avLst/>
          </a:prstGeom>
          <a:ln w="28575">
            <a:solidFill>
              <a:srgbClr val="64748B"/>
            </a:solidFill>
            <a:tailEnd type="triangle"/>
          </a:ln>
        </p:spPr>
      </p:cxnSp>
      <p:sp>
        <p:nvSpPr>
          <p:cNvPr id="7" name="TextBox 7"/>
          <p:cNvSpPr txBox="1"/>
          <p:nvPr/>
        </p:nvSpPr>
        <p:spPr>
          <a:xfrm>
            <a:off x="3474720" y="1828800"/>
            <a:ext cx="2514600" cy="59436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txBody>
          <a:bodyPr wrap="square" lIns="45720" rIns="45720" tIns="45720" bIns="45720"/>
          <a:lstStyle/>
          <a:p>
            <a:r>
              <a:rPr lang="zh-CN" sz="1700" b="1">
                <a:solidFill>
                  <a:srgbClr val="0F172A"/>
                </a:solidFill>
                <a:latin typeface="Microsoft YaHei"/>
                <a:ea typeface="Microsoft YaHei"/>
              </a:rPr>
              <a:t>Read-Only Memory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74720" y="2542032"/>
            <a:ext cx="2514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334155"/>
                </a:solidFill>
                <a:latin typeface="Microsoft YaHei"/>
                <a:ea typeface="Microsoft YaHei"/>
              </a:rPr>
              <a:t>每次 lookup 读旧版本、写新版本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6080760" y="2130552"/>
            <a:ext cx="457200" cy="0"/>
          </a:xfrm>
          <a:prstGeom prst="straightConnector1">
            <a:avLst/>
          </a:prstGeom>
          <a:ln w="28575">
            <a:solidFill>
              <a:srgbClr val="64748B"/>
            </a:solidFill>
            <a:tailEnd type="triangle"/>
          </a:ln>
        </p:spPr>
      </p:cxnSp>
      <p:sp>
        <p:nvSpPr>
          <p:cNvPr id="10" name="TextBox 10"/>
          <p:cNvSpPr txBox="1"/>
          <p:nvPr/>
        </p:nvSpPr>
        <p:spPr>
          <a:xfrm>
            <a:off x="6309360" y="1828800"/>
            <a:ext cx="2514600" cy="59436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square" lIns="45720" rIns="45720" tIns="45720" bIns="45720"/>
          <a:lstStyle/>
          <a:p>
            <a:r>
              <a:rPr lang="zh-CN" sz="1700" b="1">
                <a:solidFill>
                  <a:srgbClr val="0F172A"/>
                </a:solidFill>
                <a:latin typeface="Microsoft YaHei"/>
                <a:ea typeface="Microsoft YaHei"/>
              </a:rPr>
              <a:t>Set Membership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09360" y="2542032"/>
            <a:ext cx="2514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334155"/>
                </a:solidFill>
                <a:latin typeface="Microsoft YaHei"/>
                <a:ea typeface="Microsoft YaHei"/>
              </a:rPr>
              <a:t>把集合元素当作 ROM key，value 为空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8915400" y="2130552"/>
            <a:ext cx="457200" cy="0"/>
          </a:xfrm>
          <a:prstGeom prst="straightConnector1">
            <a:avLst/>
          </a:prstGeom>
          <a:ln w="28575">
            <a:solidFill>
              <a:srgbClr val="64748B"/>
            </a:solidFill>
            <a:tailEnd type="triangle"/>
          </a:ln>
        </p:spPr>
      </p:cxnSp>
      <p:sp>
        <p:nvSpPr>
          <p:cNvPr id="13" name="TextBox 13"/>
          <p:cNvSpPr txBox="1"/>
          <p:nvPr/>
        </p:nvSpPr>
        <p:spPr>
          <a:xfrm>
            <a:off x="9144000" y="1828800"/>
            <a:ext cx="2514600" cy="59436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txBody>
          <a:bodyPr wrap="square" lIns="45720" rIns="45720" tIns="45720" bIns="45720"/>
          <a:lstStyle/>
          <a:p>
            <a:r>
              <a:rPr lang="zh-CN" sz="1700" b="1">
                <a:solidFill>
                  <a:srgbClr val="0F172A"/>
                </a:solidFill>
                <a:latin typeface="Microsoft YaHei"/>
                <a:ea typeface="Microsoft YaHei"/>
              </a:rPr>
              <a:t>Read/Write RAM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2542032"/>
            <a:ext cx="2514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334155"/>
                </a:solidFill>
                <a:latin typeface="Microsoft YaHei"/>
                <a:ea typeface="Microsoft YaHei"/>
              </a:rPr>
              <a:t>version 换成 timestamp，并检查 clock - t &gt; 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1520" y="4709160"/>
            <a:ext cx="106984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rIns="91440" tIns="45720" bIns="45720"/>
          <a:lstStyle/>
          <a:p>
            <a:r>
              <a:rPr lang="zh-CN" sz="2000">
                <a:solidFill>
                  <a:srgbClr val="0F172A"/>
                </a:solidFill>
                <a:latin typeface="Microsoft YaHei"/>
                <a:ea typeface="Microsoft YaHei"/>
              </a:rPr>
              <a:t>核心观察：证明者 P 可以输入 old value 和 time；电路不直接维护大数组，</a:t>
            </a:r>
          </a:p>
          <a:p>
            <a:r>
              <a:rPr lang="zh-CN" sz="2000">
                <a:solidFill>
                  <a:srgbClr val="0F172A"/>
                </a:solidFill>
                <a:latin typeface="Microsoft YaHei"/>
                <a:ea typeface="Microsoft YaHei"/>
              </a:rPr>
              <a:t>而是用两个日志和一次集合查询，把每次访问的合法性批量锁住。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PPT 中的 ROM 例子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6928" y="78638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三格只读表，执行 LOAD(1), LOAD(0), LOAD(1)。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1417320"/>
            <a:ext cx="1005840" cy="438912"/>
          </a:xfrm>
          <a:prstGeom prst="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</a:rPr>
              <a:t>Key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7360" y="1417320"/>
            <a:ext cx="1828800" cy="438912"/>
          </a:xfrm>
          <a:prstGeom prst="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</a:rPr>
              <a:t>Value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520" y="1856232"/>
            <a:ext cx="1005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7360" y="1856232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x[0]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1520" y="2295144"/>
            <a:ext cx="1005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37360" y="2295144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x[1]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1520" y="2734056"/>
            <a:ext cx="1005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7360" y="2734056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x[2]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40480" y="1325880"/>
            <a:ext cx="338328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rIns="91440" tIns="45720" bIns="45720"/>
          <a:lstStyle/>
          <a:p>
            <a:r>
              <a:rPr lang="zh-CN" sz="1700">
                <a:solidFill>
                  <a:srgbClr val="0F172A"/>
                </a:solidFill>
                <a:latin typeface="Microsoft YaHei"/>
                <a:ea typeface="Microsoft YaHei"/>
              </a:rPr>
              <a:t>每个 LOAD(i)：</a:t>
            </a:r>
          </a:p>
          <a:p>
            <a:r>
              <a:rPr lang="zh-CN" sz="1700">
                <a:solidFill>
                  <a:srgbClr val="0F172A"/>
                </a:solidFill>
                <a:latin typeface="Microsoft YaHei"/>
                <a:ea typeface="Microsoft YaHei"/>
              </a:rPr>
              <a:t>1. P 输入 value = y 和 version = v</a:t>
            </a:r>
          </a:p>
          <a:p>
            <a:r>
              <a:rPr lang="zh-CN" sz="1700">
                <a:solidFill>
                  <a:srgbClr val="0F172A"/>
                </a:solidFill>
                <a:latin typeface="Microsoft YaHei"/>
                <a:ea typeface="Microsoft YaHei"/>
              </a:rPr>
              <a:t>2. reads 加入 (i, y, v)</a:t>
            </a:r>
          </a:p>
          <a:p>
            <a:r>
              <a:rPr lang="zh-CN" sz="1700">
                <a:solidFill>
                  <a:srgbClr val="0F172A"/>
                </a:solidFill>
                <a:latin typeface="Microsoft YaHei"/>
                <a:ea typeface="Microsoft YaHei"/>
              </a:rPr>
              <a:t>3. writes 加入 (i, y, v+1)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80960" y="1143000"/>
            <a:ext cx="1005840" cy="347472"/>
          </a:xfrm>
          <a:prstGeom prst="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Step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86800" y="1143000"/>
            <a:ext cx="1691640" cy="347472"/>
          </a:xfrm>
          <a:prstGeom prst="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writes 新增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78440" y="1143000"/>
            <a:ext cx="1691640" cy="347472"/>
          </a:xfrm>
          <a:prstGeom prst="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reads 新增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80960" y="1490472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setup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86800" y="1490472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(0,x[0],0)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78440" y="1490472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7680960" y="1837943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setup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86800" y="1837943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(1,x[1],0)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78440" y="1837943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7680960" y="2185416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setup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86800" y="2185416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(2,x[2],0)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78440" y="2185416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7680960" y="2532888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LOAD(1)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86800" y="2532888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(1,y0,v0+1)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78440" y="2532888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(1,y0,v0)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80960" y="2880360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LOAD(0)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86800" y="2880360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(0,y1,v1+1)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78440" y="2880360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(0,y1,v1)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80960" y="3227832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LOAD(1)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86800" y="3227832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(1,y2,v2+1)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378440" y="3227832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(1,y2,v2)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7240" y="5074920"/>
            <a:ext cx="10607040" cy="59436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lIns="91440" rIns="91440" tIns="45720" bIns="45720"/>
          <a:lstStyle/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Teardown 再把每个 key 的最后版本读掉，最后检查 reads ~ writes。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ROM 为什么成立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6928" y="78638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版本链把每个 key 的所有读取连接回 setup。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874519"/>
            <a:ext cx="1143000" cy="54864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txBody>
          <a:bodyPr wrap="square" lIns="45720" rIns="45720" tIns="45720" bIns="45720"/>
          <a:lstStyle/>
          <a:p>
            <a:r>
              <a:rPr lang="zh-CN" sz="2000" b="1">
                <a:solidFill>
                  <a:srgbClr val="075985"/>
                </a:solidFill>
                <a:latin typeface="Microsoft YaHei"/>
                <a:ea typeface="Microsoft YaHei"/>
              </a:rPr>
              <a:t>v0</a:t>
            </a:r>
          </a:p>
        </p:txBody>
      </p:sp>
      <p:cxnSp>
        <p:nvCxnSpPr>
          <p:cNvPr id="5" name="Arrow 5"/>
          <p:cNvCxnSpPr/>
          <p:nvPr/>
        </p:nvCxnSpPr>
        <p:spPr>
          <a:xfrm>
            <a:off x="2057400" y="2148840"/>
            <a:ext cx="914400" cy="0"/>
          </a:xfrm>
          <a:prstGeom prst="straightConnector1">
            <a:avLst/>
          </a:prstGeom>
          <a:ln w="28575">
            <a:solidFill>
              <a:srgbClr val="0284C7"/>
            </a:solidFill>
            <a:tailEnd type="triangle"/>
          </a:ln>
        </p:spPr>
      </p:cxnSp>
      <p:sp>
        <p:nvSpPr>
          <p:cNvPr id="6" name="TextBox 6"/>
          <p:cNvSpPr txBox="1"/>
          <p:nvPr/>
        </p:nvSpPr>
        <p:spPr>
          <a:xfrm>
            <a:off x="3154680" y="1874519"/>
            <a:ext cx="1143000" cy="54864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txBody>
          <a:bodyPr wrap="square" lIns="45720" rIns="45720" tIns="45720" bIns="45720"/>
          <a:lstStyle/>
          <a:p>
            <a:r>
              <a:rPr lang="zh-CN" sz="2000" b="1">
                <a:solidFill>
                  <a:srgbClr val="075985"/>
                </a:solidFill>
                <a:latin typeface="Microsoft YaHei"/>
                <a:ea typeface="Microsoft YaHei"/>
              </a:rPr>
              <a:t>v1</a:t>
            </a:r>
          </a:p>
        </p:txBody>
      </p:sp>
      <p:cxnSp>
        <p:nvCxnSpPr>
          <p:cNvPr id="7" name="Arrow 7"/>
          <p:cNvCxnSpPr/>
          <p:nvPr/>
        </p:nvCxnSpPr>
        <p:spPr>
          <a:xfrm>
            <a:off x="4389120" y="2148840"/>
            <a:ext cx="914400" cy="0"/>
          </a:xfrm>
          <a:prstGeom prst="straightConnector1">
            <a:avLst/>
          </a:prstGeom>
          <a:ln w="28575">
            <a:solidFill>
              <a:srgbClr val="0284C7"/>
            </a:solidFill>
            <a:tailEnd type="triangle"/>
          </a:ln>
        </p:spPr>
      </p:cxnSp>
      <p:sp>
        <p:nvSpPr>
          <p:cNvPr id="8" name="TextBox 8"/>
          <p:cNvSpPr txBox="1"/>
          <p:nvPr/>
        </p:nvSpPr>
        <p:spPr>
          <a:xfrm>
            <a:off x="5486400" y="1874519"/>
            <a:ext cx="1143000" cy="54864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txBody>
          <a:bodyPr wrap="square" lIns="45720" rIns="45720" tIns="45720" bIns="45720"/>
          <a:lstStyle/>
          <a:p>
            <a:r>
              <a:rPr lang="zh-CN" sz="2000" b="1">
                <a:solidFill>
                  <a:srgbClr val="075985"/>
                </a:solidFill>
                <a:latin typeface="Microsoft YaHei"/>
                <a:ea typeface="Microsoft YaHei"/>
              </a:rPr>
              <a:t>v2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6720840" y="2148840"/>
            <a:ext cx="914400" cy="0"/>
          </a:xfrm>
          <a:prstGeom prst="straightConnector1">
            <a:avLst/>
          </a:prstGeom>
          <a:ln w="28575">
            <a:solidFill>
              <a:srgbClr val="0284C7"/>
            </a:solidFill>
            <a:tailEnd type="triangle"/>
          </a:ln>
        </p:spPr>
      </p:cxnSp>
      <p:sp>
        <p:nvSpPr>
          <p:cNvPr id="10" name="TextBox 10"/>
          <p:cNvSpPr txBox="1"/>
          <p:nvPr/>
        </p:nvSpPr>
        <p:spPr>
          <a:xfrm>
            <a:off x="7818120" y="1874519"/>
            <a:ext cx="1874519" cy="5486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</p:spPr>
        <p:txBody>
          <a:bodyPr wrap="square" lIns="45720" rIns="45720" tIns="45720" bIns="45720"/>
          <a:lstStyle/>
          <a:p>
            <a:r>
              <a:rPr lang="zh-CN" sz="1700" b="1">
                <a:solidFill>
                  <a:srgbClr val="334155"/>
                </a:solidFill>
                <a:latin typeface="Microsoft YaHei"/>
                <a:ea typeface="Microsoft YaHei"/>
              </a:rPr>
              <a:t>teardown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8680" y="3063240"/>
            <a:ext cx="102412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rIns="91440" tIns="45720" bIns="45720"/>
          <a:lstStyle/>
          <a:p>
            <a:r>
              <a:rPr lang="zh-CN" sz="2200">
                <a:solidFill>
                  <a:srgbClr val="0F172A"/>
                </a:solidFill>
                <a:latin typeface="Microsoft YaHei"/>
                <a:ea typeface="Microsoft YaHei"/>
              </a:rPr>
              <a:t>只要 reads ~ writes，P 不能凭空读一个 setup 不存在的 key。</a:t>
            </a:r>
          </a:p>
          <a:p>
            <a:r>
              <a:rPr lang="zh-CN" sz="2200">
                <a:solidFill>
                  <a:srgbClr val="0F172A"/>
                </a:solidFill>
                <a:latin typeface="Microsoft YaHei"/>
                <a:ea typeface="Microsoft YaHei"/>
              </a:rPr>
              <a:t>ROM 允许“读未来”：因为同一个 key 的 value 永远不变，未来版本仍然携带同一个 x[i]。</a:t>
            </a:r>
          </a:p>
          <a:p>
            <a:r>
              <a:rPr lang="zh-CN" sz="2200">
                <a:solidFill>
                  <a:srgbClr val="0F172A"/>
                </a:solidFill>
                <a:latin typeface="Microsoft YaHei"/>
                <a:ea typeface="Microsoft YaHei"/>
              </a:rPr>
              <a:t>但 RAM 不能这样做，因为 RAM 的 value 会被 STORE 改写。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Set Membership Queries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6928" y="78638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把集合当作 value 为空的 ROM。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1325880"/>
            <a:ext cx="4572000" cy="109728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square" lIns="91440" rIns="91440" tIns="45720" bIns="45720"/>
          <a:lstStyle/>
          <a:p>
            <a:r>
              <a:rPr lang="zh-CN" sz="2400">
                <a:solidFill>
                  <a:srgbClr val="0F172A"/>
                </a:solidFill>
                <a:latin typeface="Microsoft YaHei"/>
                <a:ea typeface="Microsoft YaHei"/>
              </a:rPr>
              <a:t>集合：S = {1, 2, 3}</a:t>
            </a:r>
          </a:p>
          <a:p>
            <a:r>
              <a:rPr lang="zh-CN" sz="2400">
                <a:solidFill>
                  <a:srgbClr val="0F172A"/>
                </a:solidFill>
                <a:latin typeface="Microsoft YaHei"/>
                <a:ea typeface="Microsoft YaHei"/>
              </a:rPr>
              <a:t>member(d) 等价于 lookup(d)</a:t>
            </a:r>
          </a:p>
          <a:p>
            <a:r>
              <a:rPr lang="zh-CN" sz="2400">
                <a:solidFill>
                  <a:srgbClr val="0F172A"/>
                </a:solidFill>
                <a:latin typeface="Microsoft YaHei"/>
                <a:ea typeface="Microsoft YaHei"/>
              </a:rPr>
              <a:t>记录 tuple: (key, version)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43600" y="1143000"/>
            <a:ext cx="118872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Query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32320" y="1143000"/>
            <a:ext cx="173736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set_reads 新增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69680" y="1143000"/>
            <a:ext cx="205740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set_writes 新增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43600" y="1554480"/>
            <a:ext cx="1188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setup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32320" y="1554480"/>
            <a:ext cx="17373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869680" y="1554480"/>
            <a:ext cx="20574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(1,0), (2,0), (3,0)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43600" y="1965960"/>
            <a:ext cx="1188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member(1)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32320" y="1965960"/>
            <a:ext cx="17373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(1,0)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69680" y="1965960"/>
            <a:ext cx="20574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(1,1)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43600" y="2377440"/>
            <a:ext cx="1188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member(2)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32320" y="2377440"/>
            <a:ext cx="17373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(2,0)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69680" y="2377440"/>
            <a:ext cx="20574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(2,1)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43600" y="2788920"/>
            <a:ext cx="1188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member(1)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32320" y="2788920"/>
            <a:ext cx="17373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(1,1)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69680" y="2788920"/>
            <a:ext cx="20574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(1,2)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43600" y="3200400"/>
            <a:ext cx="1188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teardown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32320" y="3200400"/>
            <a:ext cx="17373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(1,2),(2,1),(3,0)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9680" y="3200400"/>
            <a:ext cx="20574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777240" y="4892040"/>
            <a:ext cx="105613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txBody>
          <a:bodyPr wrap="square" lIns="91440" rIns="91440" tIns="45720" bIns="45720"/>
          <a:lstStyle/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最后检查 set_reads ~ set_writes。若 d 不在 setup 的集合里，就无法补出一条完整版本链。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Set Membership 怎么补上 RAM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6928" y="78638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把 ROM 的 version 换成 RAM 的 timestamp。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234440"/>
            <a:ext cx="10469880" cy="91440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EF4444"/>
            </a:solidFill>
          </a:ln>
        </p:spPr>
        <p:txBody>
          <a:bodyPr wrap="square" lIns="91440" rIns="91440" tIns="45720" bIns="45720"/>
          <a:lstStyle/>
          <a:p>
            <a:r>
              <a:rPr lang="zh-CN" sz="2800" b="1">
                <a:solidFill>
                  <a:srgbClr val="991B1B"/>
                </a:solidFill>
                <a:latin typeface="Microsoft YaHei"/>
                <a:ea typeface="Microsoft YaHei"/>
              </a:rPr>
              <a:t>RAM 的危险点：P 可能声称读到了未来才写出的值。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2960" y="2560320"/>
            <a:ext cx="5029200" cy="502920"/>
          </a:xfrm>
          <a:prstGeom prst="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</a:rPr>
              <a:t>ROM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52160" y="2560320"/>
            <a:ext cx="5029200" cy="502920"/>
          </a:xfrm>
          <a:prstGeom prst="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</a:rPr>
              <a:t>RAM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2960" y="3063239"/>
            <a:ext cx="5029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tuple = (key, value, version)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52160" y="3063239"/>
            <a:ext cx="5029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tuple = (address, value, time_written)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2960" y="3566160"/>
            <a:ext cx="5029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只需 reads ~ writes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52160" y="3566160"/>
            <a:ext cx="5029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还要证明 time_written &lt; clock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960" y="4069080"/>
            <a:ext cx="5029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允许读未来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52160" y="4069080"/>
            <a:ext cx="5029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禁止读未来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8680" y="4846320"/>
            <a:ext cx="10378440" cy="77724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91440" rIns="91440" tIns="45720" bIns="45720"/>
          <a:lstStyle/>
          <a:p>
            <a:r>
              <a:rPr lang="zh-CN" sz="2200">
                <a:solidFill>
                  <a:srgbClr val="0F172A"/>
                </a:solidFill>
                <a:latin typeface="Microsoft YaHei"/>
                <a:ea typeface="Microsoft YaHei"/>
              </a:rPr>
              <a:t>用集合 S = {1, ..., T} 检查：clock - t ∈ S。于是 clock - t &gt; 0，也就是 t &lt; clock。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完整 RAM 例子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6928" y="78638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初始内存和三次访问。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1280160"/>
            <a:ext cx="1645920" cy="457200"/>
          </a:xfrm>
          <a:prstGeom prst="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</a:rPr>
              <a:t>Address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77440" y="1280160"/>
            <a:ext cx="1920240" cy="457200"/>
          </a:xfrm>
          <a:prstGeom prst="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</a:rPr>
              <a:t>Initial value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520" y="1737360"/>
            <a:ext cx="1645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77440" y="1737360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1520" y="2194560"/>
            <a:ext cx="1645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77440" y="2194560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1520" y="2651760"/>
            <a:ext cx="1645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77440" y="2651760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30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09160" y="1280160"/>
            <a:ext cx="1371600" cy="457200"/>
          </a:xfrm>
          <a:prstGeom prst="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</a:rPr>
              <a:t>Clock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80760" y="1280160"/>
            <a:ext cx="2514600" cy="457200"/>
          </a:xfrm>
          <a:prstGeom prst="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</a:rPr>
              <a:t>Operation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09160" y="1737360"/>
            <a:ext cx="1371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80760" y="173736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LOAD(1)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09160" y="2194560"/>
            <a:ext cx="1371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80760" y="219456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STORE(0,99)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09160" y="2651760"/>
            <a:ext cx="1371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0760" y="265176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600">
                <a:solidFill>
                  <a:srgbClr val="0F172A"/>
                </a:solidFill>
                <a:latin typeface="Microsoft YaHei"/>
                <a:ea typeface="Microsoft YaHei"/>
              </a:rPr>
              <a:t>LOAD(0)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7240" y="4069080"/>
            <a:ext cx="106070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rIns="91440" tIns="45720" bIns="45720"/>
          <a:lstStyle/>
          <a:p>
            <a:r>
              <a:rPr lang="zh-CN" sz="2200">
                <a:solidFill>
                  <a:srgbClr val="0F172A"/>
                </a:solidFill>
                <a:latin typeface="Microsoft YaHei"/>
                <a:ea typeface="Microsoft YaHei"/>
              </a:rPr>
              <a:t>RAM setup 写入：</a:t>
            </a:r>
          </a:p>
          <a:p>
            <a:r>
              <a:rPr lang="zh-CN" sz="2200">
                <a:solidFill>
                  <a:srgbClr val="0F172A"/>
                </a:solidFill>
                <a:latin typeface="Microsoft YaHei"/>
                <a:ea typeface="Microsoft YaHei"/>
              </a:rPr>
              <a:t>writes = [(0,10,0), (1,20,0), (2,30,0)]</a:t>
            </a:r>
          </a:p>
          <a:p>
            <a:r>
              <a:rPr lang="zh-CN" sz="2200">
                <a:solidFill>
                  <a:srgbClr val="0F172A"/>
                </a:solidFill>
                <a:latin typeface="Microsoft YaHei"/>
                <a:ea typeface="Microsoft YaHei"/>
              </a:rPr>
              <a:t>Set setup 写入：S = {1,2,3}，用于检查 clock - 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三次 Access 的日志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6928" y="78638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每次访问都做 RAM 日志更新 + 一次集合成员查询。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5760" y="1143000"/>
            <a:ext cx="731520" cy="566928"/>
          </a:xfrm>
          <a:prstGeom prst="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clock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" y="1143000"/>
            <a:ext cx="1325880" cy="566928"/>
          </a:xfrm>
          <a:prstGeom prst="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op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23160" y="1143000"/>
            <a:ext cx="1600200" cy="566928"/>
          </a:xfrm>
          <a:prstGeom prst="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P 输入 (old,t)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23360" y="1143000"/>
            <a:ext cx="1417320" cy="566928"/>
          </a:xfrm>
          <a:prstGeom prst="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RAM reads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40680" y="1143000"/>
            <a:ext cx="1417320" cy="566928"/>
          </a:xfrm>
          <a:prstGeom prst="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RAM writes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0" y="1143000"/>
            <a:ext cx="777240" cy="566928"/>
          </a:xfrm>
          <a:prstGeom prst="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clock-t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35240" y="1143000"/>
            <a:ext cx="1234440" cy="566928"/>
          </a:xfrm>
          <a:prstGeom prst="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Set query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5760" y="1709928"/>
            <a:ext cx="731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1709928"/>
            <a:ext cx="1325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LOAD(1)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23160" y="1709928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(20,0)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23360" y="1709928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(1,20,0)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40680" y="1709928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(1,20,1)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58000" y="1709928"/>
            <a:ext cx="777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35240" y="17099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member(1)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5760" y="2276856"/>
            <a:ext cx="731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7280" y="2276856"/>
            <a:ext cx="1325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STORE(0,99)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23160" y="2276856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(10,0)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23360" y="2276856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(0,10,0)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40680" y="2276856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(0,99,2)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58000" y="2276856"/>
            <a:ext cx="777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35240" y="2276856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member(2)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5760" y="2843784"/>
            <a:ext cx="731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7280" y="2843784"/>
            <a:ext cx="1325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LOAD(0)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23160" y="2843784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(99,2)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023360" y="2843784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(0,99,2)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40680" y="2843784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(0,99,3)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58000" y="2843784"/>
            <a:ext cx="777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35240" y="2843784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member(1)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5800" y="4114800"/>
            <a:ext cx="53035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BBF24"/>
            </a:solidFill>
          </a:ln>
        </p:spPr>
        <p:txBody>
          <a:bodyPr wrap="square" lIns="91440" rIns="91440" tIns="45720" bIns="45720"/>
          <a:lstStyle/>
          <a:p>
            <a:r>
              <a:rPr lang="zh-CN" sz="2000">
                <a:solidFill>
                  <a:srgbClr val="0F172A"/>
                </a:solidFill>
                <a:latin typeface="Microsoft YaHei"/>
                <a:ea typeface="Microsoft YaHei"/>
              </a:rPr>
              <a:t>LOAD: new = old</a:t>
            </a:r>
          </a:p>
          <a:p>
            <a:r>
              <a:rPr lang="zh-CN" sz="2000">
                <a:solidFill>
                  <a:srgbClr val="0F172A"/>
                </a:solidFill>
                <a:latin typeface="Microsoft YaHei"/>
                <a:ea typeface="Microsoft YaHei"/>
              </a:rPr>
              <a:t>STORE: new = w</a:t>
            </a:r>
          </a:p>
          <a:p>
            <a:r>
              <a:rPr lang="zh-CN" sz="2000">
                <a:solidFill>
                  <a:srgbClr val="0F172A"/>
                </a:solidFill>
                <a:latin typeface="Microsoft YaHei"/>
                <a:ea typeface="Microsoft YaHei"/>
              </a:rPr>
              <a:t>统一写法：new = old + op * (w - old)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63640" y="4114800"/>
            <a:ext cx="51663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6EFAC"/>
            </a:solidFill>
          </a:ln>
        </p:spPr>
        <p:txBody>
          <a:bodyPr wrap="square" lIns="91440" rIns="91440" tIns="45720" bIns="45720"/>
          <a:lstStyle/>
          <a:p>
            <a:r>
              <a:rPr lang="zh-CN" sz="2000">
                <a:solidFill>
                  <a:srgbClr val="0F172A"/>
                </a:solidFill>
                <a:latin typeface="Microsoft YaHei"/>
                <a:ea typeface="Microsoft YaHei"/>
              </a:rPr>
              <a:t>每次 member(clock-t) 只证明差值在 {1,2,3}。</a:t>
            </a:r>
          </a:p>
          <a:p>
            <a:r>
              <a:rPr lang="zh-CN" sz="2000">
                <a:solidFill>
                  <a:srgbClr val="0F172A"/>
                </a:solidFill>
                <a:latin typeface="Microsoft YaHei"/>
                <a:ea typeface="Microsoft YaHei"/>
              </a:rPr>
              <a:t>这就排除了 t &gt;= clock 的未来读取。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Teardown 后的两次 Shuffle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6928" y="78638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一个 shuffle 给 RAM，一个 shuffle 给 Set。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1480" y="1143000"/>
            <a:ext cx="2286000" cy="356616"/>
          </a:xfrm>
          <a:prstGeom prst="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RAM writes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97480" y="1143000"/>
            <a:ext cx="2286000" cy="356616"/>
          </a:xfrm>
          <a:prstGeom prst="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RAM reads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1480" y="1499616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(0,10,0)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97480" y="1499616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(1,20,0)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1480" y="1856232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(1,20,0)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97480" y="1856232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(0,10,0)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1480" y="2212848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(2,30,0)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97480" y="2212848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(0,99,2)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1480" y="2569464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(1,20,1)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97480" y="2569464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(0,99,3)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1480" y="2926080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(0,99,2)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7480" y="2926080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(1,20,1)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480" y="3282696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(0,99,3)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97480" y="3282696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(2,30,0)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15000" y="1143000"/>
            <a:ext cx="2286000" cy="356616"/>
          </a:xfrm>
          <a:prstGeom prst="rect">
            <a:avLst/>
          </a:prstGeom>
          <a:solidFill>
            <a:srgbClr val="DCFCE7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Set writes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01000" y="1143000"/>
            <a:ext cx="2286000" cy="356616"/>
          </a:xfrm>
          <a:prstGeom prst="rect">
            <a:avLst/>
          </a:prstGeom>
          <a:solidFill>
            <a:srgbClr val="DCFCE7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Set reads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5000" y="1499616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(1,0)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01000" y="1499616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(1,0)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15000" y="1856232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(2,0)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01000" y="1856232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(2,0)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15000" y="2212848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(3,0)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01000" y="2212848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(1,1)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15000" y="2569464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(1,1)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01000" y="2569464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(1,2)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15000" y="2926080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(2,1)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01000" y="2926080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(2,1)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15000" y="3282696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(1,2)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01000" y="3282696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 wrap="square" lIns="36576" rIns="36576" tIns="45720" bIns="45720"/>
          <a:lstStyle/>
          <a:p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(3,0)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1520" y="4800600"/>
            <a:ext cx="106527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rIns="91440" tIns="45720" bIns="45720"/>
          <a:lstStyle/>
          <a:p>
            <a:r>
              <a:rPr lang="zh-CN" sz="2200">
                <a:solidFill>
                  <a:srgbClr val="0F172A"/>
                </a:solidFill>
                <a:latin typeface="Microsoft YaHei"/>
                <a:ea typeface="Microsoft YaHei"/>
              </a:rPr>
              <a:t>检查 RAM reads ~ writes，同时检查 Set reads ~ writes；这就是标题里的 two shuffles。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为什么不用显式检查 latest write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6928" y="78638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局部时间检查 + 全局 permutation 已经隐含了最新性。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" y="1280160"/>
            <a:ext cx="3429000" cy="292608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txBody>
          <a:bodyPr wrap="square" lIns="91440" rIns="91440" tIns="45720" bIns="45720"/>
          <a:lstStyle/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1. RAM reads ~ writes</a:t>
            </a:r>
          </a:p>
          <a:p>
            <a:endParaRPr/>
          </a:p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每个读到的</a:t>
            </a:r>
          </a:p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(addr, value, t)</a:t>
            </a:r>
          </a:p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必须真的曾经写入。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34840" y="1280160"/>
            <a:ext cx="3429000" cy="292608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square" lIns="91440" rIns="91440" tIns="45720" bIns="45720"/>
          <a:lstStyle/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2. member(clock - t)</a:t>
            </a:r>
          </a:p>
          <a:p>
            <a:endParaRPr/>
          </a:p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读到的写入时间</a:t>
            </a:r>
          </a:p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必须严格早于</a:t>
            </a:r>
          </a:p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当前 clock。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92440" y="1280160"/>
            <a:ext cx="3429000" cy="292608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txBody>
          <a:bodyPr wrap="square" lIns="91440" rIns="91440" tIns="45720" bIns="45720"/>
          <a:lstStyle/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3. 每次访问都写回</a:t>
            </a:r>
          </a:p>
          <a:p>
            <a:endParaRPr/>
          </a:p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LOAD 写回 old，</a:t>
            </a:r>
          </a:p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STORE 写入 w，</a:t>
            </a:r>
          </a:p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未读旧版本会在 shuffle 中暴露。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8680" y="4800600"/>
            <a:ext cx="1037844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rIns="91440" tIns="45720" bIns="45720"/>
          <a:lstStyle/>
          <a:p>
            <a:r>
              <a:rPr lang="zh-CN" sz="2100">
                <a:solidFill>
                  <a:srgbClr val="0F172A"/>
                </a:solidFill>
                <a:latin typeface="Microsoft YaHei"/>
                <a:ea typeface="Microsoft YaHei"/>
              </a:rPr>
              <a:t>因此每个地址始终只剩一个未读的最新写入；下一次访问若不读它，最终 reads ~ writes 无法同时成立。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6928" y="78638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从 PPT 的 ROM 例子到完整 RAM 的最短路径。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" y="1234440"/>
            <a:ext cx="10652760" cy="6858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38BDF8"/>
            </a:solidFill>
          </a:ln>
        </p:spPr>
        <p:txBody>
          <a:bodyPr wrap="square" lIns="91440" rIns="91440" tIns="45720" bIns="45720"/>
          <a:lstStyle/>
          <a:p>
            <a:r>
              <a:rPr lang="zh-CN" sz="2300" b="1">
                <a:solidFill>
                  <a:srgbClr val="075985"/>
                </a:solidFill>
                <a:latin typeface="Microsoft YaHei"/>
                <a:ea typeface="Microsoft YaHei"/>
              </a:rPr>
              <a:t>ROM: 维护 (key, value, version)，最后证明 reads ~ writes。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240" y="2240280"/>
            <a:ext cx="10652760" cy="6858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4ADE80"/>
            </a:solidFill>
          </a:ln>
        </p:spPr>
        <p:txBody>
          <a:bodyPr wrap="square" lIns="91440" rIns="91440" tIns="45720" bIns="45720"/>
          <a:lstStyle/>
          <a:p>
            <a:r>
              <a:rPr lang="zh-CN" sz="2300" b="1">
                <a:solidFill>
                  <a:srgbClr val="166534"/>
                </a:solidFill>
                <a:latin typeface="Microsoft YaHei"/>
                <a:ea typeface="Microsoft YaHei"/>
              </a:rPr>
              <a:t>Set Membership: 维护 (key, version)，member(d) 就是 lookup(d)。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240" y="3246120"/>
            <a:ext cx="10652760" cy="6858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91440" rIns="91440" tIns="45720" bIns="45720"/>
          <a:lstStyle/>
          <a:p>
            <a:r>
              <a:rPr lang="zh-CN" sz="2300" b="1">
                <a:solidFill>
                  <a:srgbClr val="92400E"/>
                </a:solidFill>
                <a:latin typeface="Microsoft YaHei"/>
                <a:ea typeface="Microsoft YaHei"/>
              </a:rPr>
              <a:t>RAM: 维护 (address, value, timestamp)，并证明 clock - timestamp ∈ {1,...,T}。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240" y="4709160"/>
            <a:ext cx="106527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rIns="91440" tIns="45720" bIns="45720"/>
          <a:lstStyle/>
          <a:p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</a:rPr>
              <a:t>最终：two shuffles + 一个 load/store multiplexer = 常数开销 ZK RAM。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Clean">
  <a:themeElements>
    <a:clrScheme name="CodexClean">
      <a:dk1>
        <a:srgbClr val="111827"/>
      </a:dk1>
      <a:lt1>
        <a:srgbClr val="F8FAFC"/>
      </a:lt1>
      <a:dk2>
        <a:srgbClr val="334155"/>
      </a:dk2>
      <a:lt2>
        <a:srgbClr val="FFFFFF"/>
      </a:lt2>
      <a:accent1>
        <a:srgbClr val="2563EB"/>
      </a:accent1>
      <a:accent2>
        <a:srgbClr val="16A34A"/>
      </a:accent2>
      <a:accent3>
        <a:srgbClr val="D97706"/>
      </a:accent3>
      <a:accent4>
        <a:srgbClr val="0284C7"/>
      </a:accent4>
      <a:accent5>
        <a:srgbClr val="9333EA"/>
      </a:accent5>
      <a:accent6>
        <a:srgbClr val="DC2626"/>
      </a:accent6>
      <a:hlink>
        <a:srgbClr val="2563EB"/>
      </a:hlink>
      <a:folHlink>
        <a:srgbClr val="7C3AED"/>
      </a:folHlink>
    </a:clrScheme>
    <a:fontScheme name="CodexFonts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CodexFm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11</Slide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ROM Set Membership to RAM</dc:title>
  <dc:creator>Codex</dc:creator>
  <cp:lastModifiedBy>Codex</cp:lastModifiedBy>
  <dcterms:created xsi:type="dcterms:W3CDTF">2026-06-01T11:13:37+00:00</dcterms:created>
  <dcterms:modified xsi:type="dcterms:W3CDTF">2026-06-01T11:13:37+00:00</dcterms:modified>
</cp:coreProperties>
</file>