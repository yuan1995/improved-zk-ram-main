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2"/>
  </p:sld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</p:sldIdLst>
  <p:sldSz cx="13333333" cy="7500000" type="custom"/>
  <p:notesSz cx="6858000" cy="9144000"/>
  <p:defaultTextStyle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" Target="slides/slide1.xml"/> <Relationship Id="rId2" Type="http://schemas.openxmlformats.org/officeDocument/2006/relationships/slide" Target="slides/slide2.xml"/> <Relationship Id="rId3" Type="http://schemas.openxmlformats.org/officeDocument/2006/relationships/slide" Target="slides/slide3.xml"/> <Relationship Id="rId4" Type="http://schemas.openxmlformats.org/officeDocument/2006/relationships/slide" Target="slides/slide4.xml"/> <Relationship Id="rId5" Type="http://schemas.openxmlformats.org/officeDocument/2006/relationships/slide" Target="slides/slide5.xml"/> <Relationship Id="rId6" Type="http://schemas.openxmlformats.org/officeDocument/2006/relationships/slide" Target="slides/slide6.xml"/> <Relationship Id="rId7" Type="http://schemas.openxmlformats.org/officeDocument/2006/relationships/slide" Target="slides/slide7.xml"/> <Relationship Id="rId8" Type="http://schemas.openxmlformats.org/officeDocument/2006/relationships/slide" Target="slides/slide8.xml"/> <Relationship Id="rId9" Type="http://schemas.openxmlformats.org/officeDocument/2006/relationships/slide" Target="slides/slide9.xml"/> <Relationship Id="rId10" Type="http://schemas.openxmlformats.org/officeDocument/2006/relationships/slide" Target="slides/slide10.xml"/> <Relationship Id="rId11" Type="http://schemas.openxmlformats.org/officeDocument/2006/relationships/slide" Target="slides/slide11.xml"/> <Relationship Id="rId12" Type="http://schemas.openxmlformats.org/officeDocument/2006/relationships/slideMaster" Target="slideMasters/slideMaster1.xml"/> <Relationship Id="rId13" Type="http://schemas.openxmlformats.org/officeDocument/2006/relationships/theme" Target="theme/theme1.xml"/>
</Relationships>
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8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9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10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1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685800" y="960120"/>
            <a:ext cx="10789920" cy="77724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/>
          <a:lstStyle/>
          <a:p>
            <a:r>
              <a:rPr lang="zh-CN" sz="4200" b="1">
                <a:solidFill>
                  <a:srgbClr val="0F172A"/>
                </a:solidFill>
                <a:latin typeface="Microsoft YaHei"/>
                <a:ea typeface="Microsoft YaHei"/>
              </a:rPr>
              <a:t>从 ROM 到 RAM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31520" y="1828800"/>
            <a:ext cx="10607040" cy="68580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/>
          <a:lstStyle/>
          <a:p>
            <a:r>
              <a:rPr lang="zh-CN" sz="2300">
                <a:solidFill>
                  <a:srgbClr val="334155"/>
                </a:solidFill>
                <a:latin typeface="Microsoft YaHei"/>
                <a:ea typeface="Microsoft YaHei"/>
              </a:rPr>
              <a:t>把 PPT 里的 ROM 例子加上 Set Membership Queries，完成 read/write RAM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77240" y="2880360"/>
            <a:ext cx="2103120" cy="640080"/>
          </a:xfrm>
          <a:prstGeom prst="roundRect">
            <a:avLst/>
          </a:prstGeom>
          <a:solidFill>
            <a:srgbClr val="E0F2FE"/>
          </a:solidFill>
          <a:ln w="9525">
            <a:solidFill>
              <a:srgbClr val="0284C7"/>
            </a:solidFill>
          </a:ln>
        </p:spPr>
        <p:txBody>
          <a:bodyPr wrap="square" lIns="45720" rIns="45720" tIns="45720" bIns="45720"/>
          <a:lstStyle/>
          <a:p>
            <a:r>
              <a:rPr lang="zh-CN" sz="2200" b="1">
                <a:solidFill>
                  <a:srgbClr val="075985"/>
                </a:solidFill>
                <a:latin typeface="Microsoft YaHei"/>
                <a:ea typeface="Microsoft YaHei"/>
              </a:rPr>
              <a:t>ROM</a:t>
            </a:r>
          </a:p>
        </p:txBody>
      </p:sp>
      <p:cxnSp>
        <p:nvCxnSpPr>
          <p:cNvPr id="5" name="Arrow 5"/>
          <p:cNvCxnSpPr/>
          <p:nvPr/>
        </p:nvCxnSpPr>
        <p:spPr>
          <a:xfrm>
            <a:off x="2971800" y="3200400"/>
            <a:ext cx="914400" cy="0"/>
          </a:xfrm>
          <a:prstGeom prst="straightConnector1">
            <a:avLst/>
          </a:prstGeom>
          <a:ln w="28575">
            <a:solidFill>
              <a:srgbClr val="2563EB"/>
            </a:solidFill>
            <a:tailEnd type="triangle"/>
          </a:ln>
        </p:spPr>
      </p:cxnSp>
      <p:sp>
        <p:nvSpPr>
          <p:cNvPr id="6" name="TextBox 6"/>
          <p:cNvSpPr txBox="1"/>
          <p:nvPr/>
        </p:nvSpPr>
        <p:spPr>
          <a:xfrm>
            <a:off x="4069080" y="2880360"/>
            <a:ext cx="3200400" cy="640080"/>
          </a:xfrm>
          <a:prstGeom prst="roundRect">
            <a:avLst/>
          </a:prstGeom>
          <a:solidFill>
            <a:srgbClr val="DCFCE7"/>
          </a:solidFill>
          <a:ln w="9525">
            <a:solidFill>
              <a:srgbClr val="16A34A"/>
            </a:solidFill>
          </a:ln>
        </p:spPr>
        <p:txBody>
          <a:bodyPr wrap="square" lIns="45720" rIns="45720" tIns="45720" bIns="45720"/>
          <a:lstStyle/>
          <a:p>
            <a:r>
              <a:rPr lang="zh-CN" sz="2000" b="1">
                <a:solidFill>
                  <a:srgbClr val="166534"/>
                </a:solidFill>
                <a:latin typeface="Microsoft YaHei"/>
                <a:ea typeface="Microsoft YaHei"/>
              </a:rPr>
              <a:t>Set Membership</a:t>
            </a:r>
          </a:p>
        </p:txBody>
      </p:sp>
      <p:cxnSp>
        <p:nvCxnSpPr>
          <p:cNvPr id="7" name="Arrow 7"/>
          <p:cNvCxnSpPr/>
          <p:nvPr/>
        </p:nvCxnSpPr>
        <p:spPr>
          <a:xfrm>
            <a:off x="7452360" y="3200400"/>
            <a:ext cx="914400" cy="0"/>
          </a:xfrm>
          <a:prstGeom prst="straightConnector1">
            <a:avLst/>
          </a:prstGeom>
          <a:ln w="28575">
            <a:solidFill>
              <a:srgbClr val="2563EB"/>
            </a:solidFill>
            <a:tailEnd type="triangle"/>
          </a:ln>
        </p:spPr>
      </p:cxnSp>
      <p:sp>
        <p:nvSpPr>
          <p:cNvPr id="8" name="TextBox 8"/>
          <p:cNvSpPr txBox="1"/>
          <p:nvPr/>
        </p:nvSpPr>
        <p:spPr>
          <a:xfrm>
            <a:off x="8549640" y="2880360"/>
            <a:ext cx="2286000" cy="640080"/>
          </a:xfrm>
          <a:prstGeom prst="roundRect">
            <a:avLst/>
          </a:prstGeom>
          <a:solidFill>
            <a:srgbClr val="FEF3C7"/>
          </a:solidFill>
          <a:ln w="9525">
            <a:solidFill>
              <a:srgbClr val="D97706"/>
            </a:solidFill>
          </a:ln>
        </p:spPr>
        <p:txBody>
          <a:bodyPr wrap="square" lIns="45720" rIns="45720" tIns="45720" bIns="45720"/>
          <a:lstStyle/>
          <a:p>
            <a:r>
              <a:rPr lang="zh-CN" sz="2200" b="1">
                <a:solidFill>
                  <a:srgbClr val="92400E"/>
                </a:solidFill>
                <a:latin typeface="Microsoft YaHei"/>
                <a:ea typeface="Microsoft YaHei"/>
              </a:rPr>
              <a:t>RAM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804672" y="4297680"/>
            <a:ext cx="10698480" cy="7315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91440" rIns="91440" tIns="45720" bIns="45720"/>
          <a:lstStyle/>
          <a:p>
            <a:r>
              <a:rPr lang="zh-CN" sz="2100">
                <a:solidFill>
                  <a:srgbClr val="1F2937"/>
                </a:solidFill>
                <a:latin typeface="Microsoft YaHei"/>
                <a:ea typeface="Microsoft YaHei"/>
              </a:rPr>
              <a:t>Two shuffles:  一个检查 RAM 的 reads ~ writes，另一个检查集合查询的 reads ~ writes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02920" y="256032"/>
            <a:ext cx="11155680" cy="530352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/>
          <a:lstStyle/>
          <a:p>
            <a:r>
              <a:rPr lang="zh-CN" sz="3000" b="1">
                <a:solidFill>
                  <a:srgbClr val="0F172A"/>
                </a:solidFill>
                <a:latin typeface="Microsoft YaHei"/>
                <a:ea typeface="Microsoft YaHei"/>
              </a:rPr>
              <a:t>整体路线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566928" y="786384"/>
            <a:ext cx="10881360" cy="347472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/>
          <a:lstStyle/>
          <a:p>
            <a:r>
              <a:rPr lang="zh-CN" sz="1400">
                <a:solidFill>
                  <a:srgbClr val="475569"/>
                </a:solidFill>
                <a:latin typeface="Microsoft YaHei"/>
                <a:ea typeface="Microsoft YaHei"/>
              </a:rPr>
              <a:t>ROM 解决“读到的是初始化过的值”，Set Membership 解决“读到的是过去写入”。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640080" y="1828800"/>
            <a:ext cx="2514600" cy="594360"/>
          </a:xfrm>
          <a:prstGeom prst="roundRect">
            <a:avLst/>
          </a:prstGeom>
          <a:solidFill>
            <a:srgbClr val="E0E7FF"/>
          </a:solidFill>
          <a:ln w="9525">
            <a:solidFill>
              <a:srgbClr val="4F46E5"/>
            </a:solidFill>
          </a:ln>
        </p:spPr>
        <p:txBody>
          <a:bodyPr wrap="square" lIns="45720" rIns="45720" tIns="45720" bIns="45720"/>
          <a:lstStyle/>
          <a:p>
            <a:r>
              <a:rPr lang="zh-CN" sz="1700" b="1">
                <a:solidFill>
                  <a:srgbClr val="0F172A"/>
                </a:solidFill>
                <a:latin typeface="Microsoft YaHei"/>
                <a:ea typeface="Microsoft YaHei"/>
              </a:rPr>
              <a:t>Permutation Proof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640080" y="2542032"/>
            <a:ext cx="2514600" cy="960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lIns="91440" rIns="91440" tIns="45720" bIns="45720"/>
          <a:lstStyle/>
          <a:p>
            <a:r>
              <a:rPr lang="zh-CN" sz="1400">
                <a:solidFill>
                  <a:srgbClr val="334155"/>
                </a:solidFill>
                <a:latin typeface="Microsoft YaHei"/>
                <a:ea typeface="Microsoft YaHei"/>
              </a:rPr>
              <a:t>证明两个日志只是重排：reads ~ writes</a:t>
            </a:r>
          </a:p>
        </p:txBody>
      </p:sp>
      <p:cxnSp>
        <p:nvCxnSpPr>
          <p:cNvPr id="6" name="Arrow 6"/>
          <p:cNvCxnSpPr/>
          <p:nvPr/>
        </p:nvCxnSpPr>
        <p:spPr>
          <a:xfrm>
            <a:off x="3246120" y="2130552"/>
            <a:ext cx="457200" cy="0"/>
          </a:xfrm>
          <a:prstGeom prst="straightConnector1">
            <a:avLst/>
          </a:prstGeom>
          <a:ln w="28575">
            <a:solidFill>
              <a:srgbClr val="64748B"/>
            </a:solidFill>
            <a:tailEnd type="triangle"/>
          </a:ln>
        </p:spPr>
      </p:cxnSp>
      <p:sp>
        <p:nvSpPr>
          <p:cNvPr id="7" name="TextBox 7"/>
          <p:cNvSpPr txBox="1"/>
          <p:nvPr/>
        </p:nvSpPr>
        <p:spPr>
          <a:xfrm>
            <a:off x="3474720" y="1828800"/>
            <a:ext cx="2514600" cy="594360"/>
          </a:xfrm>
          <a:prstGeom prst="roundRect">
            <a:avLst/>
          </a:prstGeom>
          <a:solidFill>
            <a:srgbClr val="E0F2FE"/>
          </a:solidFill>
          <a:ln w="9525">
            <a:solidFill>
              <a:srgbClr val="0284C7"/>
            </a:solidFill>
          </a:ln>
        </p:spPr>
        <p:txBody>
          <a:bodyPr wrap="square" lIns="45720" rIns="45720" tIns="45720" bIns="45720"/>
          <a:lstStyle/>
          <a:p>
            <a:r>
              <a:rPr lang="zh-CN" sz="1700" b="1">
                <a:solidFill>
                  <a:srgbClr val="0F172A"/>
                </a:solidFill>
                <a:latin typeface="Microsoft YaHei"/>
                <a:ea typeface="Microsoft YaHei"/>
              </a:rPr>
              <a:t>Read-Only Memory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474720" y="2542032"/>
            <a:ext cx="2514600" cy="960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lIns="91440" rIns="91440" tIns="45720" bIns="45720"/>
          <a:lstStyle/>
          <a:p>
            <a:r>
              <a:rPr lang="zh-CN" sz="1400">
                <a:solidFill>
                  <a:srgbClr val="334155"/>
                </a:solidFill>
                <a:latin typeface="Microsoft YaHei"/>
                <a:ea typeface="Microsoft YaHei"/>
              </a:rPr>
              <a:t>每次 lookup 读旧版本、写新版本</a:t>
            </a:r>
          </a:p>
        </p:txBody>
      </p:sp>
      <p:cxnSp>
        <p:nvCxnSpPr>
          <p:cNvPr id="9" name="Arrow 9"/>
          <p:cNvCxnSpPr/>
          <p:nvPr/>
        </p:nvCxnSpPr>
        <p:spPr>
          <a:xfrm>
            <a:off x="6080760" y="2130552"/>
            <a:ext cx="457200" cy="0"/>
          </a:xfrm>
          <a:prstGeom prst="straightConnector1">
            <a:avLst/>
          </a:prstGeom>
          <a:ln w="28575">
            <a:solidFill>
              <a:srgbClr val="64748B"/>
            </a:solidFill>
            <a:tailEnd type="triangle"/>
          </a:ln>
        </p:spPr>
      </p:cxnSp>
      <p:sp>
        <p:nvSpPr>
          <p:cNvPr id="10" name="TextBox 10"/>
          <p:cNvSpPr txBox="1"/>
          <p:nvPr/>
        </p:nvSpPr>
        <p:spPr>
          <a:xfrm>
            <a:off x="6309360" y="1828800"/>
            <a:ext cx="2514600" cy="594360"/>
          </a:xfrm>
          <a:prstGeom prst="roundRect">
            <a:avLst/>
          </a:prstGeom>
          <a:solidFill>
            <a:srgbClr val="DCFCE7"/>
          </a:solidFill>
          <a:ln w="9525">
            <a:solidFill>
              <a:srgbClr val="16A34A"/>
            </a:solidFill>
          </a:ln>
        </p:spPr>
        <p:txBody>
          <a:bodyPr wrap="square" lIns="45720" rIns="45720" tIns="45720" bIns="45720"/>
          <a:lstStyle/>
          <a:p>
            <a:r>
              <a:rPr lang="zh-CN" sz="1700" b="1">
                <a:solidFill>
                  <a:srgbClr val="0F172A"/>
                </a:solidFill>
                <a:latin typeface="Microsoft YaHei"/>
                <a:ea typeface="Microsoft YaHei"/>
              </a:rPr>
              <a:t>Set Membership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6309360" y="2542032"/>
            <a:ext cx="2514600" cy="960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lIns="91440" rIns="91440" tIns="45720" bIns="45720"/>
          <a:lstStyle/>
          <a:p>
            <a:r>
              <a:rPr lang="zh-CN" sz="1400">
                <a:solidFill>
                  <a:srgbClr val="334155"/>
                </a:solidFill>
                <a:latin typeface="Microsoft YaHei"/>
                <a:ea typeface="Microsoft YaHei"/>
              </a:rPr>
              <a:t>把集合元素当作 ROM key，value 为空</a:t>
            </a:r>
          </a:p>
        </p:txBody>
      </p:sp>
      <p:cxnSp>
        <p:nvCxnSpPr>
          <p:cNvPr id="12" name="Arrow 12"/>
          <p:cNvCxnSpPr/>
          <p:nvPr/>
        </p:nvCxnSpPr>
        <p:spPr>
          <a:xfrm>
            <a:off x="8915400" y="2130552"/>
            <a:ext cx="457200" cy="0"/>
          </a:xfrm>
          <a:prstGeom prst="straightConnector1">
            <a:avLst/>
          </a:prstGeom>
          <a:ln w="28575">
            <a:solidFill>
              <a:srgbClr val="64748B"/>
            </a:solidFill>
            <a:tailEnd type="triangle"/>
          </a:ln>
        </p:spPr>
      </p:cxnSp>
      <p:sp>
        <p:nvSpPr>
          <p:cNvPr id="13" name="TextBox 13"/>
          <p:cNvSpPr txBox="1"/>
          <p:nvPr/>
        </p:nvSpPr>
        <p:spPr>
          <a:xfrm>
            <a:off x="9144000" y="1828800"/>
            <a:ext cx="2514600" cy="594360"/>
          </a:xfrm>
          <a:prstGeom prst="roundRect">
            <a:avLst/>
          </a:prstGeom>
          <a:solidFill>
            <a:srgbClr val="FEF3C7"/>
          </a:solidFill>
          <a:ln w="9525">
            <a:solidFill>
              <a:srgbClr val="D97706"/>
            </a:solidFill>
          </a:ln>
        </p:spPr>
        <p:txBody>
          <a:bodyPr wrap="square" lIns="45720" rIns="45720" tIns="45720" bIns="45720"/>
          <a:lstStyle/>
          <a:p>
            <a:r>
              <a:rPr lang="zh-CN" sz="1700" b="1">
                <a:solidFill>
                  <a:srgbClr val="0F172A"/>
                </a:solidFill>
                <a:latin typeface="Microsoft YaHei"/>
                <a:ea typeface="Microsoft YaHei"/>
              </a:rPr>
              <a:t>Read/Write RAM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9144000" y="2542032"/>
            <a:ext cx="2514600" cy="960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lIns="91440" rIns="91440" tIns="45720" bIns="45720"/>
          <a:lstStyle/>
          <a:p>
            <a:r>
              <a:rPr lang="zh-CN" sz="1400">
                <a:solidFill>
                  <a:srgbClr val="334155"/>
                </a:solidFill>
                <a:latin typeface="Microsoft YaHei"/>
                <a:ea typeface="Microsoft YaHei"/>
              </a:rPr>
              <a:t>version 换成 timestamp，并检查 clock - t &gt; 0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731520" y="4709160"/>
            <a:ext cx="10698480" cy="8686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91440" rIns="91440" tIns="45720" bIns="45720"/>
          <a:lstStyle/>
          <a:p>
            <a:r>
              <a:rPr lang="zh-CN" sz="2000">
                <a:solidFill>
                  <a:srgbClr val="0F172A"/>
                </a:solidFill>
                <a:latin typeface="Microsoft YaHei"/>
                <a:ea typeface="Microsoft YaHei"/>
              </a:rPr>
              <a:t>核心观察：证明者 P 可以输入 old value 和 time；电路不直接维护大数组，</a:t>
            </a:r>
          </a:p>
          <a:p>
            <a:r>
              <a:rPr lang="zh-CN" sz="2000">
                <a:solidFill>
                  <a:srgbClr val="0F172A"/>
                </a:solidFill>
                <a:latin typeface="Microsoft YaHei"/>
                <a:ea typeface="Microsoft YaHei"/>
              </a:rPr>
              <a:t>而是用两个日志和一次集合查询，把每次访问的合法性批量锁住。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02920" y="256032"/>
            <a:ext cx="11155680" cy="530352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/>
          <a:lstStyle/>
          <a:p>
            <a:r>
              <a:rPr lang="zh-CN" sz="3000" b="1">
                <a:solidFill>
                  <a:srgbClr val="0F172A"/>
                </a:solidFill>
                <a:latin typeface="Microsoft YaHei"/>
                <a:ea typeface="Microsoft YaHei"/>
              </a:rPr>
              <a:t>PPT 中的 ROM 例子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566928" y="786384"/>
            <a:ext cx="10881360" cy="347472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/>
          <a:lstStyle/>
          <a:p>
            <a:r>
              <a:rPr lang="zh-CN" sz="1400">
                <a:solidFill>
                  <a:srgbClr val="475569"/>
                </a:solidFill>
                <a:latin typeface="Microsoft YaHei"/>
                <a:ea typeface="Microsoft YaHei"/>
              </a:rPr>
              <a:t>三格只读表，执行 LOAD(1), LOAD(0), LOAD(1)。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31520" y="1417320"/>
            <a:ext cx="1005840" cy="438912"/>
          </a:xfrm>
          <a:prstGeom prst="rect">
            <a:avLst/>
          </a:prstGeom>
          <a:solidFill>
            <a:srgbClr val="DBEAFE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600" b="1">
                <a:solidFill>
                  <a:srgbClr val="0F172A"/>
                </a:solidFill>
                <a:latin typeface="Microsoft YaHei"/>
                <a:ea typeface="Microsoft YaHei"/>
              </a:rPr>
              <a:t>Key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737360" y="1417320"/>
            <a:ext cx="1828800" cy="438912"/>
          </a:xfrm>
          <a:prstGeom prst="rect">
            <a:avLst/>
          </a:prstGeom>
          <a:solidFill>
            <a:srgbClr val="DBEAFE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600" b="1">
                <a:solidFill>
                  <a:srgbClr val="0F172A"/>
                </a:solidFill>
                <a:latin typeface="Microsoft YaHei"/>
                <a:ea typeface="Microsoft YaHei"/>
              </a:rPr>
              <a:t>Value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31520" y="1856232"/>
            <a:ext cx="1005840" cy="438912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600">
                <a:solidFill>
                  <a:srgbClr val="0F172A"/>
                </a:solidFill>
                <a:latin typeface="Microsoft YaHei"/>
                <a:ea typeface="Microsoft YaHei"/>
              </a:rPr>
              <a:t>0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737360" y="1856232"/>
            <a:ext cx="1828800" cy="438912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600">
                <a:solidFill>
                  <a:srgbClr val="0F172A"/>
                </a:solidFill>
                <a:latin typeface="Microsoft YaHei"/>
                <a:ea typeface="Microsoft YaHei"/>
              </a:rPr>
              <a:t>x[0]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731520" y="2295144"/>
            <a:ext cx="1005840" cy="438912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600">
                <a:solidFill>
                  <a:srgbClr val="0F172A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737360" y="2295144"/>
            <a:ext cx="1828800" cy="438912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600">
                <a:solidFill>
                  <a:srgbClr val="0F172A"/>
                </a:solidFill>
                <a:latin typeface="Microsoft YaHei"/>
                <a:ea typeface="Microsoft YaHei"/>
              </a:rPr>
              <a:t>x[1]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731520" y="2734056"/>
            <a:ext cx="1005840" cy="438912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600">
                <a:solidFill>
                  <a:srgbClr val="0F172A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737360" y="2734056"/>
            <a:ext cx="1828800" cy="438912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600">
                <a:solidFill>
                  <a:srgbClr val="0F172A"/>
                </a:solidFill>
                <a:latin typeface="Microsoft YaHei"/>
                <a:ea typeface="Microsoft YaHei"/>
              </a:rPr>
              <a:t>x[2]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3840480" y="1325880"/>
            <a:ext cx="3383280" cy="2057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91440" rIns="91440" tIns="45720" bIns="45720"/>
          <a:lstStyle/>
          <a:p>
            <a:r>
              <a:rPr lang="zh-CN" sz="1700">
                <a:solidFill>
                  <a:srgbClr val="0F172A"/>
                </a:solidFill>
                <a:latin typeface="Microsoft YaHei"/>
                <a:ea typeface="Microsoft YaHei"/>
              </a:rPr>
              <a:t>每个 LOAD(i)：</a:t>
            </a:r>
          </a:p>
          <a:p>
            <a:r>
              <a:rPr lang="zh-CN" sz="1700">
                <a:solidFill>
                  <a:srgbClr val="0F172A"/>
                </a:solidFill>
                <a:latin typeface="Microsoft YaHei"/>
                <a:ea typeface="Microsoft YaHei"/>
              </a:rPr>
              <a:t>1. P 输入 value = y 和 version = v</a:t>
            </a:r>
          </a:p>
          <a:p>
            <a:r>
              <a:rPr lang="zh-CN" sz="1700">
                <a:solidFill>
                  <a:srgbClr val="0F172A"/>
                </a:solidFill>
                <a:latin typeface="Microsoft YaHei"/>
                <a:ea typeface="Microsoft YaHei"/>
              </a:rPr>
              <a:t>2. reads 加入 (i, y, v)</a:t>
            </a:r>
          </a:p>
          <a:p>
            <a:r>
              <a:rPr lang="zh-CN" sz="1700">
                <a:solidFill>
                  <a:srgbClr val="0F172A"/>
                </a:solidFill>
                <a:latin typeface="Microsoft YaHei"/>
                <a:ea typeface="Microsoft YaHei"/>
              </a:rPr>
              <a:t>3. writes 加入 (i, y, v+1)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7680960" y="1143000"/>
            <a:ext cx="1005840" cy="347472"/>
          </a:xfrm>
          <a:prstGeom prst="rect">
            <a:avLst/>
          </a:prstGeom>
          <a:solidFill>
            <a:srgbClr val="DBEAFE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100" b="1">
                <a:solidFill>
                  <a:srgbClr val="0F172A"/>
                </a:solidFill>
                <a:latin typeface="Microsoft YaHei"/>
                <a:ea typeface="Microsoft YaHei"/>
              </a:rPr>
              <a:t>Step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8686800" y="1143000"/>
            <a:ext cx="1691640" cy="347472"/>
          </a:xfrm>
          <a:prstGeom prst="rect">
            <a:avLst/>
          </a:prstGeom>
          <a:solidFill>
            <a:srgbClr val="DBEAFE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100" b="1">
                <a:solidFill>
                  <a:srgbClr val="0F172A"/>
                </a:solidFill>
                <a:latin typeface="Microsoft YaHei"/>
                <a:ea typeface="Microsoft YaHei"/>
              </a:rPr>
              <a:t>writes 新增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0378440" y="1143000"/>
            <a:ext cx="1691640" cy="347472"/>
          </a:xfrm>
          <a:prstGeom prst="rect">
            <a:avLst/>
          </a:prstGeom>
          <a:solidFill>
            <a:srgbClr val="DBEAFE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100" b="1">
                <a:solidFill>
                  <a:srgbClr val="0F172A"/>
                </a:solidFill>
                <a:latin typeface="Microsoft YaHei"/>
                <a:ea typeface="Microsoft YaHei"/>
              </a:rPr>
              <a:t>reads 新增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7680960" y="1490472"/>
            <a:ext cx="100584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100">
                <a:solidFill>
                  <a:srgbClr val="0F172A"/>
                </a:solidFill>
                <a:latin typeface="Microsoft YaHei"/>
                <a:ea typeface="Microsoft YaHei"/>
              </a:rPr>
              <a:t>setup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8686800" y="1490472"/>
            <a:ext cx="169164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100">
                <a:solidFill>
                  <a:srgbClr val="0F172A"/>
                </a:solidFill>
                <a:latin typeface="Microsoft YaHei"/>
                <a:ea typeface="Microsoft YaHei"/>
              </a:rPr>
              <a:t>(0,x[0],0)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0378440" y="1490472"/>
            <a:ext cx="169164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endParaRPr/>
          </a:p>
        </p:txBody>
      </p:sp>
      <p:sp>
        <p:nvSpPr>
          <p:cNvPr id="19" name="TextBox 19"/>
          <p:cNvSpPr txBox="1"/>
          <p:nvPr/>
        </p:nvSpPr>
        <p:spPr>
          <a:xfrm>
            <a:off x="7680960" y="1837943"/>
            <a:ext cx="100584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100">
                <a:solidFill>
                  <a:srgbClr val="0F172A"/>
                </a:solidFill>
                <a:latin typeface="Microsoft YaHei"/>
                <a:ea typeface="Microsoft YaHei"/>
              </a:rPr>
              <a:t>setup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8686800" y="1837943"/>
            <a:ext cx="169164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100">
                <a:solidFill>
                  <a:srgbClr val="0F172A"/>
                </a:solidFill>
                <a:latin typeface="Microsoft YaHei"/>
                <a:ea typeface="Microsoft YaHei"/>
              </a:rPr>
              <a:t>(1,x[1],0)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0378440" y="1837943"/>
            <a:ext cx="169164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endParaRPr/>
          </a:p>
        </p:txBody>
      </p:sp>
      <p:sp>
        <p:nvSpPr>
          <p:cNvPr id="22" name="TextBox 22"/>
          <p:cNvSpPr txBox="1"/>
          <p:nvPr/>
        </p:nvSpPr>
        <p:spPr>
          <a:xfrm>
            <a:off x="7680960" y="2185416"/>
            <a:ext cx="100584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100">
                <a:solidFill>
                  <a:srgbClr val="0F172A"/>
                </a:solidFill>
                <a:latin typeface="Microsoft YaHei"/>
                <a:ea typeface="Microsoft YaHei"/>
              </a:rPr>
              <a:t>setup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8686800" y="2185416"/>
            <a:ext cx="169164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100">
                <a:solidFill>
                  <a:srgbClr val="0F172A"/>
                </a:solidFill>
                <a:latin typeface="Microsoft YaHei"/>
                <a:ea typeface="Microsoft YaHei"/>
              </a:rPr>
              <a:t>(2,x[2],0)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10378440" y="2185416"/>
            <a:ext cx="169164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endParaRPr/>
          </a:p>
        </p:txBody>
      </p:sp>
      <p:sp>
        <p:nvSpPr>
          <p:cNvPr id="25" name="TextBox 25"/>
          <p:cNvSpPr txBox="1"/>
          <p:nvPr/>
        </p:nvSpPr>
        <p:spPr>
          <a:xfrm>
            <a:off x="7680960" y="2532888"/>
            <a:ext cx="100584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100">
                <a:solidFill>
                  <a:srgbClr val="0F172A"/>
                </a:solidFill>
                <a:latin typeface="Microsoft YaHei"/>
                <a:ea typeface="Microsoft YaHei"/>
              </a:rPr>
              <a:t>LOAD(1)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8686800" y="2532888"/>
            <a:ext cx="169164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100">
                <a:solidFill>
                  <a:srgbClr val="0F172A"/>
                </a:solidFill>
                <a:latin typeface="Microsoft YaHei"/>
                <a:ea typeface="Microsoft YaHei"/>
              </a:rPr>
              <a:t>(1,y0,v0+1)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0378440" y="2532888"/>
            <a:ext cx="169164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100">
                <a:solidFill>
                  <a:srgbClr val="0F172A"/>
                </a:solidFill>
                <a:latin typeface="Microsoft YaHei"/>
                <a:ea typeface="Microsoft YaHei"/>
              </a:rPr>
              <a:t>(1,y0,v0)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7680960" y="2880360"/>
            <a:ext cx="100584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100">
                <a:solidFill>
                  <a:srgbClr val="0F172A"/>
                </a:solidFill>
                <a:latin typeface="Microsoft YaHei"/>
                <a:ea typeface="Microsoft YaHei"/>
              </a:rPr>
              <a:t>LOAD(0)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8686800" y="2880360"/>
            <a:ext cx="169164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100">
                <a:solidFill>
                  <a:srgbClr val="0F172A"/>
                </a:solidFill>
                <a:latin typeface="Microsoft YaHei"/>
                <a:ea typeface="Microsoft YaHei"/>
              </a:rPr>
              <a:t>(0,y1,v1+1)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10378440" y="2880360"/>
            <a:ext cx="169164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100">
                <a:solidFill>
                  <a:srgbClr val="0F172A"/>
                </a:solidFill>
                <a:latin typeface="Microsoft YaHei"/>
                <a:ea typeface="Microsoft YaHei"/>
              </a:rPr>
              <a:t>(0,y1,v1)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7680960" y="3227832"/>
            <a:ext cx="100584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100">
                <a:solidFill>
                  <a:srgbClr val="0F172A"/>
                </a:solidFill>
                <a:latin typeface="Microsoft YaHei"/>
                <a:ea typeface="Microsoft YaHei"/>
              </a:rPr>
              <a:t>LOAD(1)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8686800" y="3227832"/>
            <a:ext cx="169164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100">
                <a:solidFill>
                  <a:srgbClr val="0F172A"/>
                </a:solidFill>
                <a:latin typeface="Microsoft YaHei"/>
                <a:ea typeface="Microsoft YaHei"/>
              </a:rPr>
              <a:t>(1,y2,v2+1)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0378440" y="3227832"/>
            <a:ext cx="169164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100">
                <a:solidFill>
                  <a:srgbClr val="0F172A"/>
                </a:solidFill>
                <a:latin typeface="Microsoft YaHei"/>
                <a:ea typeface="Microsoft YaHei"/>
              </a:rPr>
              <a:t>(1,y2,v2)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777240" y="5074920"/>
            <a:ext cx="10607040" cy="594360"/>
          </a:xfrm>
          <a:prstGeom prst="roundRect">
            <a:avLst/>
          </a:prstGeom>
          <a:solidFill>
            <a:srgbClr val="EFF6FF"/>
          </a:solidFill>
          <a:ln w="9525">
            <a:solidFill>
              <a:srgbClr val="93C5FD"/>
            </a:solidFill>
          </a:ln>
        </p:spPr>
        <p:txBody>
          <a:bodyPr wrap="square" lIns="91440" rIns="91440" tIns="45720" bIns="45720"/>
          <a:lstStyle/>
          <a:p>
            <a:r>
              <a:rPr lang="zh-CN" sz="2100">
                <a:solidFill>
                  <a:srgbClr val="0F172A"/>
                </a:solidFill>
                <a:latin typeface="Microsoft YaHei"/>
                <a:ea typeface="Microsoft YaHei"/>
              </a:rPr>
              <a:t>Teardown 再把每个 key 的最后版本读掉，最后检查 reads ~ writes。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02920" y="256032"/>
            <a:ext cx="11155680" cy="530352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/>
          <a:lstStyle/>
          <a:p>
            <a:r>
              <a:rPr lang="zh-CN" sz="3000" b="1">
                <a:solidFill>
                  <a:srgbClr val="0F172A"/>
                </a:solidFill>
                <a:latin typeface="Microsoft YaHei"/>
                <a:ea typeface="Microsoft YaHei"/>
              </a:rPr>
              <a:t>ROM 为什么成立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566928" y="786384"/>
            <a:ext cx="10881360" cy="347472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/>
          <a:lstStyle/>
          <a:p>
            <a:r>
              <a:rPr lang="zh-CN" sz="1400">
                <a:solidFill>
                  <a:srgbClr val="475569"/>
                </a:solidFill>
                <a:latin typeface="Microsoft YaHei"/>
                <a:ea typeface="Microsoft YaHei"/>
              </a:rPr>
              <a:t>版本链把每个 key 的所有读取连接回 setup。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874519"/>
            <a:ext cx="1143000" cy="548640"/>
          </a:xfrm>
          <a:prstGeom prst="roundRect">
            <a:avLst/>
          </a:prstGeom>
          <a:solidFill>
            <a:srgbClr val="E0F2FE"/>
          </a:solidFill>
          <a:ln w="9525">
            <a:solidFill>
              <a:srgbClr val="0284C7"/>
            </a:solidFill>
          </a:ln>
        </p:spPr>
        <p:txBody>
          <a:bodyPr wrap="square" lIns="45720" rIns="45720" tIns="45720" bIns="45720"/>
          <a:lstStyle/>
          <a:p>
            <a:r>
              <a:rPr lang="zh-CN" sz="2000" b="1">
                <a:solidFill>
                  <a:srgbClr val="075985"/>
                </a:solidFill>
                <a:latin typeface="Microsoft YaHei"/>
                <a:ea typeface="Microsoft YaHei"/>
              </a:rPr>
              <a:t>v0</a:t>
            </a:r>
          </a:p>
        </p:txBody>
      </p:sp>
      <p:cxnSp>
        <p:nvCxnSpPr>
          <p:cNvPr id="5" name="Arrow 5"/>
          <p:cNvCxnSpPr/>
          <p:nvPr/>
        </p:nvCxnSpPr>
        <p:spPr>
          <a:xfrm>
            <a:off x="2057400" y="2148840"/>
            <a:ext cx="914400" cy="0"/>
          </a:xfrm>
          <a:prstGeom prst="straightConnector1">
            <a:avLst/>
          </a:prstGeom>
          <a:ln w="28575">
            <a:solidFill>
              <a:srgbClr val="0284C7"/>
            </a:solidFill>
            <a:tailEnd type="triangle"/>
          </a:ln>
        </p:spPr>
      </p:cxnSp>
      <p:sp>
        <p:nvSpPr>
          <p:cNvPr id="6" name="TextBox 6"/>
          <p:cNvSpPr txBox="1"/>
          <p:nvPr/>
        </p:nvSpPr>
        <p:spPr>
          <a:xfrm>
            <a:off x="3154680" y="1874519"/>
            <a:ext cx="1143000" cy="548640"/>
          </a:xfrm>
          <a:prstGeom prst="roundRect">
            <a:avLst/>
          </a:prstGeom>
          <a:solidFill>
            <a:srgbClr val="E0F2FE"/>
          </a:solidFill>
          <a:ln w="9525">
            <a:solidFill>
              <a:srgbClr val="0284C7"/>
            </a:solidFill>
          </a:ln>
        </p:spPr>
        <p:txBody>
          <a:bodyPr wrap="square" lIns="45720" rIns="45720" tIns="45720" bIns="45720"/>
          <a:lstStyle/>
          <a:p>
            <a:r>
              <a:rPr lang="zh-CN" sz="2000" b="1">
                <a:solidFill>
                  <a:srgbClr val="075985"/>
                </a:solidFill>
                <a:latin typeface="Microsoft YaHei"/>
                <a:ea typeface="Microsoft YaHei"/>
              </a:rPr>
              <a:t>v1</a:t>
            </a:r>
          </a:p>
        </p:txBody>
      </p:sp>
      <p:cxnSp>
        <p:nvCxnSpPr>
          <p:cNvPr id="7" name="Arrow 7"/>
          <p:cNvCxnSpPr/>
          <p:nvPr/>
        </p:nvCxnSpPr>
        <p:spPr>
          <a:xfrm>
            <a:off x="4389120" y="2148840"/>
            <a:ext cx="914400" cy="0"/>
          </a:xfrm>
          <a:prstGeom prst="straightConnector1">
            <a:avLst/>
          </a:prstGeom>
          <a:ln w="28575">
            <a:solidFill>
              <a:srgbClr val="0284C7"/>
            </a:solidFill>
            <a:tailEnd type="triangle"/>
          </a:ln>
        </p:spPr>
      </p:cxnSp>
      <p:sp>
        <p:nvSpPr>
          <p:cNvPr id="8" name="TextBox 8"/>
          <p:cNvSpPr txBox="1"/>
          <p:nvPr/>
        </p:nvSpPr>
        <p:spPr>
          <a:xfrm>
            <a:off x="5486400" y="1874519"/>
            <a:ext cx="1143000" cy="548640"/>
          </a:xfrm>
          <a:prstGeom prst="roundRect">
            <a:avLst/>
          </a:prstGeom>
          <a:solidFill>
            <a:srgbClr val="E0F2FE"/>
          </a:solidFill>
          <a:ln w="9525">
            <a:solidFill>
              <a:srgbClr val="0284C7"/>
            </a:solidFill>
          </a:ln>
        </p:spPr>
        <p:txBody>
          <a:bodyPr wrap="square" lIns="45720" rIns="45720" tIns="45720" bIns="45720"/>
          <a:lstStyle/>
          <a:p>
            <a:r>
              <a:rPr lang="zh-CN" sz="2000" b="1">
                <a:solidFill>
                  <a:srgbClr val="075985"/>
                </a:solidFill>
                <a:latin typeface="Microsoft YaHei"/>
                <a:ea typeface="Microsoft YaHei"/>
              </a:rPr>
              <a:t>v2</a:t>
            </a:r>
          </a:p>
        </p:txBody>
      </p:sp>
      <p:cxnSp>
        <p:nvCxnSpPr>
          <p:cNvPr id="9" name="Arrow 9"/>
          <p:cNvCxnSpPr/>
          <p:nvPr/>
        </p:nvCxnSpPr>
        <p:spPr>
          <a:xfrm>
            <a:off x="6720840" y="2148840"/>
            <a:ext cx="914400" cy="0"/>
          </a:xfrm>
          <a:prstGeom prst="straightConnector1">
            <a:avLst/>
          </a:prstGeom>
          <a:ln w="28575">
            <a:solidFill>
              <a:srgbClr val="0284C7"/>
            </a:solidFill>
            <a:tailEnd type="triangle"/>
          </a:ln>
        </p:spPr>
      </p:cxnSp>
      <p:sp>
        <p:nvSpPr>
          <p:cNvPr id="10" name="TextBox 10"/>
          <p:cNvSpPr txBox="1"/>
          <p:nvPr/>
        </p:nvSpPr>
        <p:spPr>
          <a:xfrm>
            <a:off x="7818120" y="1874519"/>
            <a:ext cx="1874519" cy="548640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64748B"/>
            </a:solidFill>
          </a:ln>
        </p:spPr>
        <p:txBody>
          <a:bodyPr wrap="square" lIns="45720" rIns="45720" tIns="45720" bIns="45720"/>
          <a:lstStyle/>
          <a:p>
            <a:r>
              <a:rPr lang="zh-CN" sz="1700" b="1">
                <a:solidFill>
                  <a:srgbClr val="334155"/>
                </a:solidFill>
                <a:latin typeface="Microsoft YaHei"/>
                <a:ea typeface="Microsoft YaHei"/>
              </a:rPr>
              <a:t>teardown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868680" y="3063240"/>
            <a:ext cx="102412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91440" rIns="91440" tIns="45720" bIns="45720"/>
          <a:lstStyle/>
          <a:p>
            <a:r>
              <a:rPr lang="zh-CN" sz="2200">
                <a:solidFill>
                  <a:srgbClr val="0F172A"/>
                </a:solidFill>
                <a:latin typeface="Microsoft YaHei"/>
                <a:ea typeface="Microsoft YaHei"/>
              </a:rPr>
              <a:t>只要 reads ~ writes，P 不能凭空读一个 setup 不存在的 key。</a:t>
            </a:r>
          </a:p>
          <a:p>
            <a:r>
              <a:rPr lang="zh-CN" sz="2200">
                <a:solidFill>
                  <a:srgbClr val="0F172A"/>
                </a:solidFill>
                <a:latin typeface="Microsoft YaHei"/>
                <a:ea typeface="Microsoft YaHei"/>
              </a:rPr>
              <a:t>ROM 允许“读未来”：因为同一个 key 的 value 永远不变，未来版本仍然携带同一个 x[i]。</a:t>
            </a:r>
          </a:p>
          <a:p>
            <a:r>
              <a:rPr lang="zh-CN" sz="2200">
                <a:solidFill>
                  <a:srgbClr val="0F172A"/>
                </a:solidFill>
                <a:latin typeface="Microsoft YaHei"/>
                <a:ea typeface="Microsoft YaHei"/>
              </a:rPr>
              <a:t>但 RAM 不能这样做，因为 RAM 的 value 会被 STORE 改写。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02920" y="256032"/>
            <a:ext cx="11155680" cy="530352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/>
          <a:lstStyle/>
          <a:p>
            <a:r>
              <a:rPr lang="zh-CN" sz="3000" b="1">
                <a:solidFill>
                  <a:srgbClr val="0F172A"/>
                </a:solidFill>
                <a:latin typeface="Microsoft YaHei"/>
                <a:ea typeface="Microsoft YaHei"/>
              </a:rPr>
              <a:t>Set Membership Queries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566928" y="786384"/>
            <a:ext cx="10881360" cy="347472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/>
          <a:lstStyle/>
          <a:p>
            <a:r>
              <a:rPr lang="zh-CN" sz="1400">
                <a:solidFill>
                  <a:srgbClr val="475569"/>
                </a:solidFill>
                <a:latin typeface="Microsoft YaHei"/>
                <a:ea typeface="Microsoft YaHei"/>
              </a:rPr>
              <a:t>把集合当作 value 为空的 ROM；查询序列对应 LOAD(1), LOAD(0), LOAD(1)。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31520" y="1325880"/>
            <a:ext cx="4572000" cy="1097280"/>
          </a:xfrm>
          <a:prstGeom prst="roundRect">
            <a:avLst/>
          </a:prstGeom>
          <a:solidFill>
            <a:srgbClr val="DCFCE7"/>
          </a:solidFill>
          <a:ln w="9525">
            <a:solidFill>
              <a:srgbClr val="16A34A"/>
            </a:solidFill>
          </a:ln>
        </p:spPr>
        <p:txBody>
          <a:bodyPr wrap="square" lIns="91440" rIns="91440" tIns="45720" bIns="45720"/>
          <a:lstStyle/>
          <a:p>
            <a:r>
              <a:rPr lang="zh-CN" sz="2400">
                <a:solidFill>
                  <a:srgbClr val="0F172A"/>
                </a:solidFill>
                <a:latin typeface="Microsoft YaHei"/>
                <a:ea typeface="Microsoft YaHei"/>
              </a:rPr>
              <a:t>集合：S = {1, 2, 3}</a:t>
            </a:r>
          </a:p>
          <a:p>
            <a:r>
              <a:rPr lang="zh-CN" sz="2400">
                <a:solidFill>
                  <a:srgbClr val="0F172A"/>
                </a:solidFill>
                <a:latin typeface="Microsoft YaHei"/>
                <a:ea typeface="Microsoft YaHei"/>
              </a:rPr>
              <a:t>member(d) 等价于 lookup(d)</a:t>
            </a:r>
          </a:p>
          <a:p>
            <a:r>
              <a:rPr lang="zh-CN" sz="2400">
                <a:solidFill>
                  <a:srgbClr val="0F172A"/>
                </a:solidFill>
                <a:latin typeface="Microsoft YaHei"/>
                <a:ea typeface="Microsoft YaHei"/>
              </a:rPr>
              <a:t>记录 tuple: (key, version)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5943600" y="1143000"/>
            <a:ext cx="1188720" cy="411480"/>
          </a:xfrm>
          <a:prstGeom prst="rect">
            <a:avLst/>
          </a:prstGeom>
          <a:solidFill>
            <a:srgbClr val="DBEAFE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100" b="1">
                <a:solidFill>
                  <a:srgbClr val="0F172A"/>
                </a:solidFill>
                <a:latin typeface="Microsoft YaHei"/>
                <a:ea typeface="Microsoft YaHei"/>
              </a:rPr>
              <a:t>Query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132320" y="1143000"/>
            <a:ext cx="1737360" cy="411480"/>
          </a:xfrm>
          <a:prstGeom prst="rect">
            <a:avLst/>
          </a:prstGeom>
          <a:solidFill>
            <a:srgbClr val="DBEAFE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100" b="1">
                <a:solidFill>
                  <a:srgbClr val="0F172A"/>
                </a:solidFill>
                <a:latin typeface="Microsoft YaHei"/>
                <a:ea typeface="Microsoft YaHei"/>
              </a:rPr>
              <a:t>set_reads 新增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8869680" y="1143000"/>
            <a:ext cx="2057400" cy="411480"/>
          </a:xfrm>
          <a:prstGeom prst="rect">
            <a:avLst/>
          </a:prstGeom>
          <a:solidFill>
            <a:srgbClr val="DBEAFE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100" b="1">
                <a:solidFill>
                  <a:srgbClr val="0F172A"/>
                </a:solidFill>
                <a:latin typeface="Microsoft YaHei"/>
                <a:ea typeface="Microsoft YaHei"/>
              </a:rPr>
              <a:t>set_writes 新增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5943600" y="1554480"/>
            <a:ext cx="1188720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100">
                <a:solidFill>
                  <a:srgbClr val="0F172A"/>
                </a:solidFill>
                <a:latin typeface="Microsoft YaHei"/>
                <a:ea typeface="Microsoft YaHei"/>
              </a:rPr>
              <a:t>setup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7132320" y="1554480"/>
            <a:ext cx="1737360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endParaRPr/>
          </a:p>
        </p:txBody>
      </p:sp>
      <p:sp>
        <p:nvSpPr>
          <p:cNvPr id="10" name="TextBox 10"/>
          <p:cNvSpPr txBox="1"/>
          <p:nvPr/>
        </p:nvSpPr>
        <p:spPr>
          <a:xfrm>
            <a:off x="8869680" y="1554480"/>
            <a:ext cx="2057400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100">
                <a:solidFill>
                  <a:srgbClr val="0F172A"/>
                </a:solidFill>
                <a:latin typeface="Microsoft YaHei"/>
                <a:ea typeface="Microsoft YaHei"/>
              </a:rPr>
              <a:t>(1,0), (2,0), (3,0)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5943600" y="1965960"/>
            <a:ext cx="1188720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100">
                <a:solidFill>
                  <a:srgbClr val="0F172A"/>
                </a:solidFill>
                <a:latin typeface="Microsoft YaHei"/>
                <a:ea typeface="Microsoft YaHei"/>
              </a:rPr>
              <a:t>member(1)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7132320" y="1965960"/>
            <a:ext cx="1737360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100">
                <a:solidFill>
                  <a:srgbClr val="0F172A"/>
                </a:solidFill>
                <a:latin typeface="Microsoft YaHei"/>
                <a:ea typeface="Microsoft YaHei"/>
              </a:rPr>
              <a:t>(1,0)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8869680" y="1965960"/>
            <a:ext cx="2057400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100">
                <a:solidFill>
                  <a:srgbClr val="0F172A"/>
                </a:solidFill>
                <a:latin typeface="Microsoft YaHei"/>
                <a:ea typeface="Microsoft YaHei"/>
              </a:rPr>
              <a:t>(1,1)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5943600" y="2377440"/>
            <a:ext cx="1188720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100">
                <a:solidFill>
                  <a:srgbClr val="0F172A"/>
                </a:solidFill>
                <a:latin typeface="Microsoft YaHei"/>
                <a:ea typeface="Microsoft YaHei"/>
              </a:rPr>
              <a:t>member(2)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7132320" y="2377440"/>
            <a:ext cx="1737360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100">
                <a:solidFill>
                  <a:srgbClr val="0F172A"/>
                </a:solidFill>
                <a:latin typeface="Microsoft YaHei"/>
                <a:ea typeface="Microsoft YaHei"/>
              </a:rPr>
              <a:t>(2,0)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8869680" y="2377440"/>
            <a:ext cx="2057400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100">
                <a:solidFill>
                  <a:srgbClr val="0F172A"/>
                </a:solidFill>
                <a:latin typeface="Microsoft YaHei"/>
                <a:ea typeface="Microsoft YaHei"/>
              </a:rPr>
              <a:t>(2,1)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5943600" y="2788920"/>
            <a:ext cx="1188720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100">
                <a:solidFill>
                  <a:srgbClr val="0F172A"/>
                </a:solidFill>
                <a:latin typeface="Microsoft YaHei"/>
                <a:ea typeface="Microsoft YaHei"/>
              </a:rPr>
              <a:t>member(2)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7132320" y="2788920"/>
            <a:ext cx="1737360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100">
                <a:solidFill>
                  <a:srgbClr val="0F172A"/>
                </a:solidFill>
                <a:latin typeface="Microsoft YaHei"/>
                <a:ea typeface="Microsoft YaHei"/>
              </a:rPr>
              <a:t>(2,1)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8869680" y="2788920"/>
            <a:ext cx="2057400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100">
                <a:solidFill>
                  <a:srgbClr val="0F172A"/>
                </a:solidFill>
                <a:latin typeface="Microsoft YaHei"/>
                <a:ea typeface="Microsoft YaHei"/>
              </a:rPr>
              <a:t>(2,2)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5943600" y="3200400"/>
            <a:ext cx="1188720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100">
                <a:solidFill>
                  <a:srgbClr val="0F172A"/>
                </a:solidFill>
                <a:latin typeface="Microsoft YaHei"/>
                <a:ea typeface="Microsoft YaHei"/>
              </a:rPr>
              <a:t>teardown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7132320" y="3200400"/>
            <a:ext cx="1737360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100">
                <a:solidFill>
                  <a:srgbClr val="0F172A"/>
                </a:solidFill>
                <a:latin typeface="Microsoft YaHei"/>
                <a:ea typeface="Microsoft YaHei"/>
              </a:rPr>
              <a:t>(1,1),(2,2),(3,0)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8869680" y="3200400"/>
            <a:ext cx="2057400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endParaRPr/>
          </a:p>
        </p:txBody>
      </p:sp>
      <p:sp>
        <p:nvSpPr>
          <p:cNvPr id="23" name="TextBox 23"/>
          <p:cNvSpPr txBox="1"/>
          <p:nvPr/>
        </p:nvSpPr>
        <p:spPr>
          <a:xfrm>
            <a:off x="731520" y="2697480"/>
            <a:ext cx="4572000" cy="1371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BF7D0"/>
            </a:solidFill>
          </a:ln>
        </p:spPr>
        <p:txBody>
          <a:bodyPr wrap="square" lIns="91440" rIns="91440" tIns="45720" bIns="45720"/>
          <a:lstStyle/>
          <a:p>
            <a:r>
              <a:rPr lang="zh-CN" sz="1500">
                <a:solidFill>
                  <a:srgbClr val="0F172A"/>
                </a:solidFill>
                <a:latin typeface="Microsoft YaHei"/>
                <a:ea typeface="Microsoft YaHei"/>
              </a:rPr>
              <a:t>本例查询来自 LOAD(1), LOAD(0), LOAD(1)：</a:t>
            </a:r>
          </a:p>
          <a:p>
            <a:r>
              <a:rPr lang="zh-CN" sz="1500">
                <a:solidFill>
                  <a:srgbClr val="0F172A"/>
                </a:solidFill>
                <a:latin typeface="Microsoft YaHei"/>
                <a:ea typeface="Microsoft YaHei"/>
              </a:rPr>
              <a:t>每次访问做一次 member(clock − t)，</a:t>
            </a:r>
          </a:p>
          <a:p>
            <a:r>
              <a:rPr lang="zh-CN" sz="1500">
                <a:solidFill>
                  <a:srgbClr val="0F172A"/>
                </a:solidFill>
                <a:latin typeface="Microsoft YaHei"/>
                <a:ea typeface="Microsoft YaHei"/>
              </a:rPr>
              <a:t>diff = 1, 2, 2，</a:t>
            </a:r>
          </a:p>
          <a:p>
            <a:r>
              <a:rPr lang="zh-CN" sz="1500">
                <a:solidFill>
                  <a:srgbClr val="0F172A"/>
                </a:solidFill>
                <a:latin typeface="Microsoft YaHei"/>
                <a:ea typeface="Microsoft YaHei"/>
              </a:rPr>
              <a:t>依次 member(1), member(2), member(2)。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777240" y="4892040"/>
            <a:ext cx="10561320" cy="7772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BF7D0"/>
            </a:solidFill>
          </a:ln>
        </p:spPr>
        <p:txBody>
          <a:bodyPr wrap="square" lIns="91440" rIns="91440" tIns="45720" bIns="45720"/>
          <a:lstStyle/>
          <a:p>
            <a:r>
              <a:rPr lang="zh-CN" sz="2100">
                <a:solidFill>
                  <a:srgbClr val="0F172A"/>
                </a:solidFill>
                <a:latin typeface="Microsoft YaHei"/>
                <a:ea typeface="Microsoft YaHei"/>
              </a:rPr>
              <a:t>最后检查 set_reads ~ set_writes。若 d 不在 setup 的集合里，就无法补出一条完整版本链。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02920" y="256032"/>
            <a:ext cx="11155680" cy="530352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/>
          <a:lstStyle/>
          <a:p>
            <a:r>
              <a:rPr lang="zh-CN" sz="3000" b="1">
                <a:solidFill>
                  <a:srgbClr val="0F172A"/>
                </a:solidFill>
                <a:latin typeface="Microsoft YaHei"/>
                <a:ea typeface="Microsoft YaHei"/>
              </a:rPr>
              <a:t>Set Membership 怎么补上 RAM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566928" y="786384"/>
            <a:ext cx="10881360" cy="347472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/>
          <a:lstStyle/>
          <a:p>
            <a:r>
              <a:rPr lang="zh-CN" sz="1400">
                <a:solidFill>
                  <a:srgbClr val="475569"/>
                </a:solidFill>
                <a:latin typeface="Microsoft YaHei"/>
                <a:ea typeface="Microsoft YaHei"/>
              </a:rPr>
              <a:t>把 ROM 的 version 换成 RAM 的 timestamp。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234440"/>
            <a:ext cx="10469880" cy="914400"/>
          </a:xfrm>
          <a:prstGeom prst="roundRect">
            <a:avLst/>
          </a:prstGeom>
          <a:solidFill>
            <a:srgbClr val="FEE2E2"/>
          </a:solidFill>
          <a:ln w="9525">
            <a:solidFill>
              <a:srgbClr val="EF4444"/>
            </a:solidFill>
          </a:ln>
        </p:spPr>
        <p:txBody>
          <a:bodyPr wrap="square" lIns="91440" rIns="91440" tIns="45720" bIns="45720"/>
          <a:lstStyle/>
          <a:p>
            <a:r>
              <a:rPr lang="zh-CN" sz="2800" b="1">
                <a:solidFill>
                  <a:srgbClr val="991B1B"/>
                </a:solidFill>
                <a:latin typeface="Microsoft YaHei"/>
                <a:ea typeface="Microsoft YaHei"/>
              </a:rPr>
              <a:t>RAM 的危险点：P 可能声称读到了未来才写出的值。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822960" y="2560320"/>
            <a:ext cx="5029200" cy="502920"/>
          </a:xfrm>
          <a:prstGeom prst="rect">
            <a:avLst/>
          </a:prstGeom>
          <a:solidFill>
            <a:srgbClr val="DBEAFE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600" b="1">
                <a:solidFill>
                  <a:srgbClr val="0F172A"/>
                </a:solidFill>
                <a:latin typeface="Microsoft YaHei"/>
                <a:ea typeface="Microsoft YaHei"/>
              </a:rPr>
              <a:t>ROM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5852160" y="2560320"/>
            <a:ext cx="5029200" cy="502920"/>
          </a:xfrm>
          <a:prstGeom prst="rect">
            <a:avLst/>
          </a:prstGeom>
          <a:solidFill>
            <a:srgbClr val="DBEAFE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600" b="1">
                <a:solidFill>
                  <a:srgbClr val="0F172A"/>
                </a:solidFill>
                <a:latin typeface="Microsoft YaHei"/>
                <a:ea typeface="Microsoft YaHei"/>
              </a:rPr>
              <a:t>RAM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822960" y="3063239"/>
            <a:ext cx="502920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600">
                <a:solidFill>
                  <a:srgbClr val="0F172A"/>
                </a:solidFill>
                <a:latin typeface="Microsoft YaHei"/>
                <a:ea typeface="Microsoft YaHei"/>
              </a:rPr>
              <a:t>tuple = (key, value, version)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5852160" y="3063239"/>
            <a:ext cx="502920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600">
                <a:solidFill>
                  <a:srgbClr val="0F172A"/>
                </a:solidFill>
                <a:latin typeface="Microsoft YaHei"/>
                <a:ea typeface="Microsoft YaHei"/>
              </a:rPr>
              <a:t>tuple = (address, value, time_written)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822960" y="3566160"/>
            <a:ext cx="502920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600">
                <a:solidFill>
                  <a:srgbClr val="0F172A"/>
                </a:solidFill>
                <a:latin typeface="Microsoft YaHei"/>
                <a:ea typeface="Microsoft YaHei"/>
              </a:rPr>
              <a:t>只需 reads ~ writes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5852160" y="3566160"/>
            <a:ext cx="502920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600">
                <a:solidFill>
                  <a:srgbClr val="0F172A"/>
                </a:solidFill>
                <a:latin typeface="Microsoft YaHei"/>
                <a:ea typeface="Microsoft YaHei"/>
              </a:rPr>
              <a:t>还要证明 time_written &lt; clock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822960" y="4069080"/>
            <a:ext cx="502920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600">
                <a:solidFill>
                  <a:srgbClr val="0F172A"/>
                </a:solidFill>
                <a:latin typeface="Microsoft YaHei"/>
                <a:ea typeface="Microsoft YaHei"/>
              </a:rPr>
              <a:t>允许读未来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5852160" y="4069080"/>
            <a:ext cx="502920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600">
                <a:solidFill>
                  <a:srgbClr val="0F172A"/>
                </a:solidFill>
                <a:latin typeface="Microsoft YaHei"/>
                <a:ea typeface="Microsoft YaHei"/>
              </a:rPr>
              <a:t>禁止读未来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868680" y="4846320"/>
            <a:ext cx="10378440" cy="777240"/>
          </a:xfrm>
          <a:prstGeom prst="roundRect">
            <a:avLst/>
          </a:prstGeom>
          <a:solidFill>
            <a:srgbClr val="FEF3C7"/>
          </a:solidFill>
          <a:ln w="9525">
            <a:solidFill>
              <a:srgbClr val="F59E0B"/>
            </a:solidFill>
          </a:ln>
        </p:spPr>
        <p:txBody>
          <a:bodyPr wrap="square" lIns="91440" rIns="91440" tIns="45720" bIns="45720"/>
          <a:lstStyle/>
          <a:p>
            <a:r>
              <a:rPr lang="zh-CN" sz="2200">
                <a:solidFill>
                  <a:srgbClr val="0F172A"/>
                </a:solidFill>
                <a:latin typeface="Microsoft YaHei"/>
                <a:ea typeface="Microsoft YaHei"/>
              </a:rPr>
              <a:t>用集合 S = {1, ..., T} 检查：clock - t ∈ S。于是 clock - t &gt; 0，也就是 t &lt; clock。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02920" y="256032"/>
            <a:ext cx="11155680" cy="530352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/>
          <a:lstStyle/>
          <a:p>
            <a:r>
              <a:rPr lang="zh-CN" sz="3000" b="1">
                <a:solidFill>
                  <a:srgbClr val="0F172A"/>
                </a:solidFill>
                <a:latin typeface="Microsoft YaHei"/>
                <a:ea typeface="Microsoft YaHei"/>
              </a:rPr>
              <a:t>完整 RAM 例子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566928" y="786384"/>
            <a:ext cx="10881360" cy="347472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/>
          <a:lstStyle/>
          <a:p>
            <a:r>
              <a:rPr lang="zh-CN" sz="1400">
                <a:solidFill>
                  <a:srgbClr val="475569"/>
                </a:solidFill>
                <a:latin typeface="Microsoft YaHei"/>
                <a:ea typeface="Microsoft YaHei"/>
              </a:rPr>
              <a:t>初始内存和三次访问。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31520" y="1280160"/>
            <a:ext cx="1645920" cy="457200"/>
          </a:xfrm>
          <a:prstGeom prst="rect">
            <a:avLst/>
          </a:prstGeom>
          <a:solidFill>
            <a:srgbClr val="DBEAFE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600" b="1">
                <a:solidFill>
                  <a:srgbClr val="0F172A"/>
                </a:solidFill>
                <a:latin typeface="Microsoft YaHei"/>
                <a:ea typeface="Microsoft YaHei"/>
              </a:rPr>
              <a:t>Address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2377440" y="1280160"/>
            <a:ext cx="1920240" cy="457200"/>
          </a:xfrm>
          <a:prstGeom prst="rect">
            <a:avLst/>
          </a:prstGeom>
          <a:solidFill>
            <a:srgbClr val="DBEAFE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600" b="1">
                <a:solidFill>
                  <a:srgbClr val="0F172A"/>
                </a:solidFill>
                <a:latin typeface="Microsoft YaHei"/>
                <a:ea typeface="Microsoft YaHei"/>
              </a:rPr>
              <a:t>Initial value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31520" y="1737360"/>
            <a:ext cx="16459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600">
                <a:solidFill>
                  <a:srgbClr val="0F172A"/>
                </a:solidFill>
                <a:latin typeface="Microsoft YaHei"/>
                <a:ea typeface="Microsoft YaHei"/>
              </a:rPr>
              <a:t>0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2377440" y="1737360"/>
            <a:ext cx="192024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600">
                <a:solidFill>
                  <a:srgbClr val="0F172A"/>
                </a:solidFill>
                <a:latin typeface="Microsoft YaHei"/>
                <a:ea typeface="Microsoft YaHei"/>
              </a:rPr>
              <a:t>10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731520" y="2194560"/>
            <a:ext cx="16459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600">
                <a:solidFill>
                  <a:srgbClr val="0F172A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2377440" y="2194560"/>
            <a:ext cx="192024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600">
                <a:solidFill>
                  <a:srgbClr val="0F172A"/>
                </a:solidFill>
                <a:latin typeface="Microsoft YaHei"/>
                <a:ea typeface="Microsoft YaHei"/>
              </a:rPr>
              <a:t>20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731520" y="2651760"/>
            <a:ext cx="16459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600">
                <a:solidFill>
                  <a:srgbClr val="0F172A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2377440" y="2651760"/>
            <a:ext cx="192024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600">
                <a:solidFill>
                  <a:srgbClr val="0F172A"/>
                </a:solidFill>
                <a:latin typeface="Microsoft YaHei"/>
                <a:ea typeface="Microsoft YaHei"/>
              </a:rPr>
              <a:t>30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4709160" y="1280160"/>
            <a:ext cx="1371600" cy="457200"/>
          </a:xfrm>
          <a:prstGeom prst="rect">
            <a:avLst/>
          </a:prstGeom>
          <a:solidFill>
            <a:srgbClr val="FEF3C7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600" b="1">
                <a:solidFill>
                  <a:srgbClr val="0F172A"/>
                </a:solidFill>
                <a:latin typeface="Microsoft YaHei"/>
                <a:ea typeface="Microsoft YaHei"/>
              </a:rPr>
              <a:t>Clock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6080760" y="1280160"/>
            <a:ext cx="2514600" cy="457200"/>
          </a:xfrm>
          <a:prstGeom prst="rect">
            <a:avLst/>
          </a:prstGeom>
          <a:solidFill>
            <a:srgbClr val="FEF3C7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600" b="1">
                <a:solidFill>
                  <a:srgbClr val="0F172A"/>
                </a:solidFill>
                <a:latin typeface="Microsoft YaHei"/>
                <a:ea typeface="Microsoft YaHei"/>
              </a:rPr>
              <a:t>Operation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4709160" y="1737360"/>
            <a:ext cx="13716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600">
                <a:solidFill>
                  <a:srgbClr val="0F172A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6080760" y="1737360"/>
            <a:ext cx="25146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600">
                <a:solidFill>
                  <a:srgbClr val="0F172A"/>
                </a:solidFill>
                <a:latin typeface="Microsoft YaHei"/>
                <a:ea typeface="Microsoft YaHei"/>
              </a:rPr>
              <a:t>LOAD(1)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4709160" y="2194560"/>
            <a:ext cx="13716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600">
                <a:solidFill>
                  <a:srgbClr val="0F172A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6080760" y="2194560"/>
            <a:ext cx="25146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600">
                <a:solidFill>
                  <a:srgbClr val="0F172A"/>
                </a:solidFill>
                <a:latin typeface="Microsoft YaHei"/>
                <a:ea typeface="Microsoft YaHei"/>
              </a:rPr>
              <a:t>STORE(0,99)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4709160" y="2651760"/>
            <a:ext cx="13716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600">
                <a:solidFill>
                  <a:srgbClr val="0F172A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6080760" y="2651760"/>
            <a:ext cx="25146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600">
                <a:solidFill>
                  <a:srgbClr val="0F172A"/>
                </a:solidFill>
                <a:latin typeface="Microsoft YaHei"/>
                <a:ea typeface="Microsoft YaHei"/>
              </a:rPr>
              <a:t>LOAD(0)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777240" y="4069080"/>
            <a:ext cx="10607040" cy="10972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91440" rIns="91440" tIns="45720" bIns="45720"/>
          <a:lstStyle/>
          <a:p>
            <a:r>
              <a:rPr lang="zh-CN" sz="2200">
                <a:solidFill>
                  <a:srgbClr val="0F172A"/>
                </a:solidFill>
                <a:latin typeface="Microsoft YaHei"/>
                <a:ea typeface="Microsoft YaHei"/>
              </a:rPr>
              <a:t>RAM setup 写入：</a:t>
            </a:r>
          </a:p>
          <a:p>
            <a:r>
              <a:rPr lang="zh-CN" sz="2200">
                <a:solidFill>
                  <a:srgbClr val="0F172A"/>
                </a:solidFill>
                <a:latin typeface="Microsoft YaHei"/>
                <a:ea typeface="Microsoft YaHei"/>
              </a:rPr>
              <a:t>writes = [(0,10,0), (1,20,0), (2,30,0)]</a:t>
            </a:r>
          </a:p>
          <a:p>
            <a:r>
              <a:rPr lang="zh-CN" sz="2200">
                <a:solidFill>
                  <a:srgbClr val="0F172A"/>
                </a:solidFill>
                <a:latin typeface="Microsoft YaHei"/>
                <a:ea typeface="Microsoft YaHei"/>
              </a:rPr>
              <a:t>Set setup 写入：S = {1,2,3}，用于检查 clock - t。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02920" y="256032"/>
            <a:ext cx="11155680" cy="530352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/>
          <a:lstStyle/>
          <a:p>
            <a:r>
              <a:rPr lang="zh-CN" sz="3000" b="1">
                <a:solidFill>
                  <a:srgbClr val="0F172A"/>
                </a:solidFill>
                <a:latin typeface="Microsoft YaHei"/>
                <a:ea typeface="Microsoft YaHei"/>
              </a:rPr>
              <a:t>三次 Access 的日志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566928" y="786384"/>
            <a:ext cx="10881360" cy="347472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/>
          <a:lstStyle/>
          <a:p>
            <a:r>
              <a:rPr lang="zh-CN" sz="1400">
                <a:solidFill>
                  <a:srgbClr val="475569"/>
                </a:solidFill>
                <a:latin typeface="Microsoft YaHei"/>
                <a:ea typeface="Microsoft YaHei"/>
              </a:rPr>
              <a:t>每次访问都做 RAM 日志更新 + 一次集合成员查询。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365760" y="1143000"/>
            <a:ext cx="731520" cy="566928"/>
          </a:xfrm>
          <a:prstGeom prst="rect">
            <a:avLst/>
          </a:prstGeom>
          <a:solidFill>
            <a:srgbClr val="FEF3C7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100" b="1">
                <a:solidFill>
                  <a:srgbClr val="0F172A"/>
                </a:solidFill>
                <a:latin typeface="Microsoft YaHei"/>
                <a:ea typeface="Microsoft YaHei"/>
              </a:rPr>
              <a:t>clock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097280" y="1143000"/>
            <a:ext cx="1325880" cy="566928"/>
          </a:xfrm>
          <a:prstGeom prst="rect">
            <a:avLst/>
          </a:prstGeom>
          <a:solidFill>
            <a:srgbClr val="FEF3C7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100" b="1">
                <a:solidFill>
                  <a:srgbClr val="0F172A"/>
                </a:solidFill>
                <a:latin typeface="Microsoft YaHei"/>
                <a:ea typeface="Microsoft YaHei"/>
              </a:rPr>
              <a:t>op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2423160" y="1143000"/>
            <a:ext cx="1600200" cy="566928"/>
          </a:xfrm>
          <a:prstGeom prst="rect">
            <a:avLst/>
          </a:prstGeom>
          <a:solidFill>
            <a:srgbClr val="FEF3C7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100" b="1">
                <a:solidFill>
                  <a:srgbClr val="0F172A"/>
                </a:solidFill>
                <a:latin typeface="Microsoft YaHei"/>
                <a:ea typeface="Microsoft YaHei"/>
              </a:rPr>
              <a:t>P 输入 (old,t)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4023360" y="1143000"/>
            <a:ext cx="1417320" cy="566928"/>
          </a:xfrm>
          <a:prstGeom prst="rect">
            <a:avLst/>
          </a:prstGeom>
          <a:solidFill>
            <a:srgbClr val="FEF3C7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100" b="1">
                <a:solidFill>
                  <a:srgbClr val="0F172A"/>
                </a:solidFill>
                <a:latin typeface="Microsoft YaHei"/>
                <a:ea typeface="Microsoft YaHei"/>
              </a:rPr>
              <a:t>RAM reads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5440680" y="1143000"/>
            <a:ext cx="1417320" cy="566928"/>
          </a:xfrm>
          <a:prstGeom prst="rect">
            <a:avLst/>
          </a:prstGeom>
          <a:solidFill>
            <a:srgbClr val="FEF3C7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100" b="1">
                <a:solidFill>
                  <a:srgbClr val="0F172A"/>
                </a:solidFill>
                <a:latin typeface="Microsoft YaHei"/>
                <a:ea typeface="Microsoft YaHei"/>
              </a:rPr>
              <a:t>RAM writes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858000" y="1143000"/>
            <a:ext cx="777240" cy="566928"/>
          </a:xfrm>
          <a:prstGeom prst="rect">
            <a:avLst/>
          </a:prstGeom>
          <a:solidFill>
            <a:srgbClr val="FEF3C7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100" b="1">
                <a:solidFill>
                  <a:srgbClr val="0F172A"/>
                </a:solidFill>
                <a:latin typeface="Microsoft YaHei"/>
                <a:ea typeface="Microsoft YaHei"/>
              </a:rPr>
              <a:t>clock-t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7635240" y="1143000"/>
            <a:ext cx="1234440" cy="566928"/>
          </a:xfrm>
          <a:prstGeom prst="rect">
            <a:avLst/>
          </a:prstGeom>
          <a:solidFill>
            <a:srgbClr val="FEF3C7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100" b="1">
                <a:solidFill>
                  <a:srgbClr val="0F172A"/>
                </a:solidFill>
                <a:latin typeface="Microsoft YaHei"/>
                <a:ea typeface="Microsoft YaHei"/>
              </a:rPr>
              <a:t>Set query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365760" y="1709928"/>
            <a:ext cx="73152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100">
                <a:solidFill>
                  <a:srgbClr val="0F172A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097280" y="1709928"/>
            <a:ext cx="13258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100">
                <a:solidFill>
                  <a:srgbClr val="0F172A"/>
                </a:solidFill>
                <a:latin typeface="Microsoft YaHei"/>
                <a:ea typeface="Microsoft YaHei"/>
              </a:rPr>
              <a:t>LOAD(1)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2423160" y="1709928"/>
            <a:ext cx="160020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100">
                <a:solidFill>
                  <a:srgbClr val="0F172A"/>
                </a:solidFill>
                <a:latin typeface="Microsoft YaHei"/>
                <a:ea typeface="Microsoft YaHei"/>
              </a:rPr>
              <a:t>(20,0)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4023360" y="1709928"/>
            <a:ext cx="141732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100">
                <a:solidFill>
                  <a:srgbClr val="0F172A"/>
                </a:solidFill>
                <a:latin typeface="Microsoft YaHei"/>
                <a:ea typeface="Microsoft YaHei"/>
              </a:rPr>
              <a:t>(1,20,0)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5440680" y="1709928"/>
            <a:ext cx="141732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100">
                <a:solidFill>
                  <a:srgbClr val="0F172A"/>
                </a:solidFill>
                <a:latin typeface="Microsoft YaHei"/>
                <a:ea typeface="Microsoft YaHei"/>
              </a:rPr>
              <a:t>(1,20,1)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6858000" y="1709928"/>
            <a:ext cx="7772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100">
                <a:solidFill>
                  <a:srgbClr val="0F172A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7635240" y="1709928"/>
            <a:ext cx="12344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100">
                <a:solidFill>
                  <a:srgbClr val="0F172A"/>
                </a:solidFill>
                <a:latin typeface="Microsoft YaHei"/>
                <a:ea typeface="Microsoft YaHei"/>
              </a:rPr>
              <a:t>member(1)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365760" y="2276856"/>
            <a:ext cx="73152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100">
                <a:solidFill>
                  <a:srgbClr val="0F172A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097280" y="2276856"/>
            <a:ext cx="13258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100">
                <a:solidFill>
                  <a:srgbClr val="0F172A"/>
                </a:solidFill>
                <a:latin typeface="Microsoft YaHei"/>
                <a:ea typeface="Microsoft YaHei"/>
              </a:rPr>
              <a:t>STORE(0,99)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2423160" y="2276856"/>
            <a:ext cx="160020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100">
                <a:solidFill>
                  <a:srgbClr val="0F172A"/>
                </a:solidFill>
                <a:latin typeface="Microsoft YaHei"/>
                <a:ea typeface="Microsoft YaHei"/>
              </a:rPr>
              <a:t>(10,0)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4023360" y="2276856"/>
            <a:ext cx="141732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100">
                <a:solidFill>
                  <a:srgbClr val="0F172A"/>
                </a:solidFill>
                <a:latin typeface="Microsoft YaHei"/>
                <a:ea typeface="Microsoft YaHei"/>
              </a:rPr>
              <a:t>(0,10,0)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5440680" y="2276856"/>
            <a:ext cx="141732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100">
                <a:solidFill>
                  <a:srgbClr val="0F172A"/>
                </a:solidFill>
                <a:latin typeface="Microsoft YaHei"/>
                <a:ea typeface="Microsoft YaHei"/>
              </a:rPr>
              <a:t>(0,99,2)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6858000" y="2276856"/>
            <a:ext cx="7772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100">
                <a:solidFill>
                  <a:srgbClr val="0F172A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7635240" y="2276856"/>
            <a:ext cx="12344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100">
                <a:solidFill>
                  <a:srgbClr val="0F172A"/>
                </a:solidFill>
                <a:latin typeface="Microsoft YaHei"/>
                <a:ea typeface="Microsoft YaHei"/>
              </a:rPr>
              <a:t>member(2)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365760" y="2843784"/>
            <a:ext cx="73152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100">
                <a:solidFill>
                  <a:srgbClr val="0F172A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1097280" y="2843784"/>
            <a:ext cx="13258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100">
                <a:solidFill>
                  <a:srgbClr val="0F172A"/>
                </a:solidFill>
                <a:latin typeface="Microsoft YaHei"/>
                <a:ea typeface="Microsoft YaHei"/>
              </a:rPr>
              <a:t>LOAD(0)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2423160" y="2843784"/>
            <a:ext cx="160020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100">
                <a:solidFill>
                  <a:srgbClr val="0F172A"/>
                </a:solidFill>
                <a:latin typeface="Microsoft YaHei"/>
                <a:ea typeface="Microsoft YaHei"/>
              </a:rPr>
              <a:t>(99,2)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4023360" y="2843784"/>
            <a:ext cx="141732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100">
                <a:solidFill>
                  <a:srgbClr val="0F172A"/>
                </a:solidFill>
                <a:latin typeface="Microsoft YaHei"/>
                <a:ea typeface="Microsoft YaHei"/>
              </a:rPr>
              <a:t>(0,99,2)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5440680" y="2843784"/>
            <a:ext cx="141732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100">
                <a:solidFill>
                  <a:srgbClr val="0F172A"/>
                </a:solidFill>
                <a:latin typeface="Microsoft YaHei"/>
                <a:ea typeface="Microsoft YaHei"/>
              </a:rPr>
              <a:t>(0,99,3)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6858000" y="2843784"/>
            <a:ext cx="7772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100">
                <a:solidFill>
                  <a:srgbClr val="0F172A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7635240" y="2843784"/>
            <a:ext cx="12344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100">
                <a:solidFill>
                  <a:srgbClr val="0F172A"/>
                </a:solidFill>
                <a:latin typeface="Microsoft YaHei"/>
                <a:ea typeface="Microsoft YaHei"/>
              </a:rPr>
              <a:t>member(1)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685800" y="4114800"/>
            <a:ext cx="5303520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FBBF24"/>
            </a:solidFill>
          </a:ln>
        </p:spPr>
        <p:txBody>
          <a:bodyPr wrap="square" lIns="91440" rIns="91440" tIns="45720" bIns="45720"/>
          <a:lstStyle/>
          <a:p>
            <a:r>
              <a:rPr lang="zh-CN" sz="2000">
                <a:solidFill>
                  <a:srgbClr val="0F172A"/>
                </a:solidFill>
                <a:latin typeface="Microsoft YaHei"/>
                <a:ea typeface="Microsoft YaHei"/>
              </a:rPr>
              <a:t>LOAD: new = old</a:t>
            </a:r>
          </a:p>
          <a:p>
            <a:r>
              <a:rPr lang="zh-CN" sz="2000">
                <a:solidFill>
                  <a:srgbClr val="0F172A"/>
                </a:solidFill>
                <a:latin typeface="Microsoft YaHei"/>
                <a:ea typeface="Microsoft YaHei"/>
              </a:rPr>
              <a:t>STORE: new = w</a:t>
            </a:r>
          </a:p>
          <a:p>
            <a:r>
              <a:rPr lang="zh-CN" sz="2000">
                <a:solidFill>
                  <a:srgbClr val="0F172A"/>
                </a:solidFill>
                <a:latin typeface="Microsoft YaHei"/>
                <a:ea typeface="Microsoft YaHei"/>
              </a:rPr>
              <a:t>统一写法：new = old + op * (w - old)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6263640" y="4114800"/>
            <a:ext cx="5166360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86EFAC"/>
            </a:solidFill>
          </a:ln>
        </p:spPr>
        <p:txBody>
          <a:bodyPr wrap="square" lIns="91440" rIns="91440" tIns="45720" bIns="45720"/>
          <a:lstStyle/>
          <a:p>
            <a:r>
              <a:rPr lang="zh-CN" sz="2000">
                <a:solidFill>
                  <a:srgbClr val="0F172A"/>
                </a:solidFill>
                <a:latin typeface="Microsoft YaHei"/>
                <a:ea typeface="Microsoft YaHei"/>
              </a:rPr>
              <a:t>每次 member(clock-t) 只证明差值在 {1,2,3}。</a:t>
            </a:r>
          </a:p>
          <a:p>
            <a:r>
              <a:rPr lang="zh-CN" sz="2000">
                <a:solidFill>
                  <a:srgbClr val="0F172A"/>
                </a:solidFill>
                <a:latin typeface="Microsoft YaHei"/>
                <a:ea typeface="Microsoft YaHei"/>
              </a:rPr>
              <a:t>这就排除了 t &gt;= clock 的未来读取。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02920" y="256032"/>
            <a:ext cx="11155680" cy="530352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/>
          <a:lstStyle/>
          <a:p>
            <a:r>
              <a:rPr lang="zh-CN" sz="3000" b="1">
                <a:solidFill>
                  <a:srgbClr val="0F172A"/>
                </a:solidFill>
                <a:latin typeface="Microsoft YaHei"/>
                <a:ea typeface="Microsoft YaHei"/>
              </a:rPr>
              <a:t>Teardown 后的两次 Shuffle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566928" y="786384"/>
            <a:ext cx="10881360" cy="347472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/>
          <a:lstStyle/>
          <a:p>
            <a:r>
              <a:rPr lang="zh-CN" sz="1400">
                <a:solidFill>
                  <a:srgbClr val="475569"/>
                </a:solidFill>
                <a:latin typeface="Microsoft YaHei"/>
                <a:ea typeface="Microsoft YaHei"/>
              </a:rPr>
              <a:t>一个 shuffle 给 RAM，一个 shuffle 给 Set。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411480" y="1143000"/>
            <a:ext cx="2286000" cy="356616"/>
          </a:xfrm>
          <a:prstGeom prst="rect">
            <a:avLst/>
          </a:prstGeom>
          <a:solidFill>
            <a:srgbClr val="FEF3C7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200" b="1">
                <a:solidFill>
                  <a:srgbClr val="0F172A"/>
                </a:solidFill>
                <a:latin typeface="Microsoft YaHei"/>
                <a:ea typeface="Microsoft YaHei"/>
              </a:rPr>
              <a:t>RAM writes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2697480" y="1143000"/>
            <a:ext cx="2286000" cy="356616"/>
          </a:xfrm>
          <a:prstGeom prst="rect">
            <a:avLst/>
          </a:prstGeom>
          <a:solidFill>
            <a:srgbClr val="FEF3C7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200" b="1">
                <a:solidFill>
                  <a:srgbClr val="0F172A"/>
                </a:solidFill>
                <a:latin typeface="Microsoft YaHei"/>
                <a:ea typeface="Microsoft YaHei"/>
              </a:rPr>
              <a:t>RAM reads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411480" y="1499616"/>
            <a:ext cx="2286000" cy="356616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200">
                <a:solidFill>
                  <a:srgbClr val="0F172A"/>
                </a:solidFill>
                <a:latin typeface="Microsoft YaHei"/>
                <a:ea typeface="Microsoft YaHei"/>
              </a:rPr>
              <a:t>(0,10,0)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2697480" y="1499616"/>
            <a:ext cx="2286000" cy="356616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200">
                <a:solidFill>
                  <a:srgbClr val="0F172A"/>
                </a:solidFill>
                <a:latin typeface="Microsoft YaHei"/>
                <a:ea typeface="Microsoft YaHei"/>
              </a:rPr>
              <a:t>(1,20,0)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411480" y="1856232"/>
            <a:ext cx="2286000" cy="356616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200">
                <a:solidFill>
                  <a:srgbClr val="0F172A"/>
                </a:solidFill>
                <a:latin typeface="Microsoft YaHei"/>
                <a:ea typeface="Microsoft YaHei"/>
              </a:rPr>
              <a:t>(1,20,0)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2697480" y="1856232"/>
            <a:ext cx="2286000" cy="356616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200">
                <a:solidFill>
                  <a:srgbClr val="0F172A"/>
                </a:solidFill>
                <a:latin typeface="Microsoft YaHei"/>
                <a:ea typeface="Microsoft YaHei"/>
              </a:rPr>
              <a:t>(0,10,0)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411480" y="2212848"/>
            <a:ext cx="2286000" cy="356616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200">
                <a:solidFill>
                  <a:srgbClr val="0F172A"/>
                </a:solidFill>
                <a:latin typeface="Microsoft YaHei"/>
                <a:ea typeface="Microsoft YaHei"/>
              </a:rPr>
              <a:t>(2,30,0)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2697480" y="2212848"/>
            <a:ext cx="2286000" cy="356616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200">
                <a:solidFill>
                  <a:srgbClr val="0F172A"/>
                </a:solidFill>
                <a:latin typeface="Microsoft YaHei"/>
                <a:ea typeface="Microsoft YaHei"/>
              </a:rPr>
              <a:t>(0,99,2)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411480" y="2569464"/>
            <a:ext cx="2286000" cy="356616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200">
                <a:solidFill>
                  <a:srgbClr val="0F172A"/>
                </a:solidFill>
                <a:latin typeface="Microsoft YaHei"/>
                <a:ea typeface="Microsoft YaHei"/>
              </a:rPr>
              <a:t>(1,20,1)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2697480" y="2569464"/>
            <a:ext cx="2286000" cy="356616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200">
                <a:solidFill>
                  <a:srgbClr val="0F172A"/>
                </a:solidFill>
                <a:latin typeface="Microsoft YaHei"/>
                <a:ea typeface="Microsoft YaHei"/>
              </a:rPr>
              <a:t>(0,99,3)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411480" y="2926080"/>
            <a:ext cx="2286000" cy="356616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200">
                <a:solidFill>
                  <a:srgbClr val="0F172A"/>
                </a:solidFill>
                <a:latin typeface="Microsoft YaHei"/>
                <a:ea typeface="Microsoft YaHei"/>
              </a:rPr>
              <a:t>(0,99,2)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2697480" y="2926080"/>
            <a:ext cx="2286000" cy="356616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200">
                <a:solidFill>
                  <a:srgbClr val="0F172A"/>
                </a:solidFill>
                <a:latin typeface="Microsoft YaHei"/>
                <a:ea typeface="Microsoft YaHei"/>
              </a:rPr>
              <a:t>(1,20,1)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411480" y="3282696"/>
            <a:ext cx="2286000" cy="356616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200">
                <a:solidFill>
                  <a:srgbClr val="0F172A"/>
                </a:solidFill>
                <a:latin typeface="Microsoft YaHei"/>
                <a:ea typeface="Microsoft YaHei"/>
              </a:rPr>
              <a:t>(0,99,3)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2697480" y="3282696"/>
            <a:ext cx="2286000" cy="356616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200">
                <a:solidFill>
                  <a:srgbClr val="0F172A"/>
                </a:solidFill>
                <a:latin typeface="Microsoft YaHei"/>
                <a:ea typeface="Microsoft YaHei"/>
              </a:rPr>
              <a:t>(2,30,0)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5440680" y="1143000"/>
            <a:ext cx="1325880" cy="356616"/>
          </a:xfrm>
          <a:prstGeom prst="rect">
            <a:avLst/>
          </a:prstGeom>
          <a:solidFill>
            <a:srgbClr val="DCFCE7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000" b="1">
                <a:solidFill>
                  <a:srgbClr val="0F172A"/>
                </a:solidFill>
                <a:latin typeface="Microsoft YaHei"/>
                <a:ea typeface="Microsoft YaHei"/>
              </a:rPr>
              <a:t>Set writes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6766560" y="1143000"/>
            <a:ext cx="1097280" cy="356616"/>
          </a:xfrm>
          <a:prstGeom prst="rect">
            <a:avLst/>
          </a:prstGeom>
          <a:solidFill>
            <a:srgbClr val="DCFCE7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000" b="1">
                <a:solidFill>
                  <a:srgbClr val="0F172A"/>
                </a:solidFill>
                <a:latin typeface="Microsoft YaHei"/>
                <a:ea typeface="Microsoft YaHei"/>
              </a:rPr>
              <a:t>来源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7863840" y="1143000"/>
            <a:ext cx="1325880" cy="356616"/>
          </a:xfrm>
          <a:prstGeom prst="rect">
            <a:avLst/>
          </a:prstGeom>
          <a:solidFill>
            <a:srgbClr val="DCFCE7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000" b="1">
                <a:solidFill>
                  <a:srgbClr val="0F172A"/>
                </a:solidFill>
                <a:latin typeface="Microsoft YaHei"/>
                <a:ea typeface="Microsoft YaHei"/>
              </a:rPr>
              <a:t>Set reads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9189719" y="1143000"/>
            <a:ext cx="1417320" cy="356616"/>
          </a:xfrm>
          <a:prstGeom prst="rect">
            <a:avLst/>
          </a:prstGeom>
          <a:solidFill>
            <a:srgbClr val="DCFCE7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000" b="1">
                <a:solidFill>
                  <a:srgbClr val="0F172A"/>
                </a:solidFill>
                <a:latin typeface="Microsoft YaHei"/>
                <a:ea typeface="Microsoft YaHei"/>
              </a:rPr>
              <a:t>来源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5440680" y="1499616"/>
            <a:ext cx="1325880" cy="356616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000">
                <a:solidFill>
                  <a:srgbClr val="0F172A"/>
                </a:solidFill>
                <a:latin typeface="Microsoft YaHei"/>
                <a:ea typeface="Microsoft YaHei"/>
              </a:rPr>
              <a:t>(1,0)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6766560" y="1499616"/>
            <a:ext cx="1097280" cy="356616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000">
                <a:solidFill>
                  <a:srgbClr val="0F172A"/>
                </a:solidFill>
                <a:latin typeface="Microsoft YaHei"/>
                <a:ea typeface="Microsoft YaHei"/>
              </a:rPr>
              <a:t>setup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7863840" y="1499616"/>
            <a:ext cx="1325880" cy="356616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000">
                <a:solidFill>
                  <a:srgbClr val="0F172A"/>
                </a:solidFill>
                <a:latin typeface="Microsoft YaHei"/>
                <a:ea typeface="Microsoft YaHei"/>
              </a:rPr>
              <a:t>(1,0)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9189719" y="1499616"/>
            <a:ext cx="1417320" cy="356616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000">
                <a:solidFill>
                  <a:srgbClr val="0F172A"/>
                </a:solidFill>
                <a:latin typeface="Microsoft YaHei"/>
                <a:ea typeface="Microsoft YaHei"/>
              </a:rPr>
              <a:t>member(1)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5440680" y="1856232"/>
            <a:ext cx="1325880" cy="356616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000">
                <a:solidFill>
                  <a:srgbClr val="0F172A"/>
                </a:solidFill>
                <a:latin typeface="Microsoft YaHei"/>
                <a:ea typeface="Microsoft YaHei"/>
              </a:rPr>
              <a:t>(1,1)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6766560" y="1856232"/>
            <a:ext cx="1097280" cy="356616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000">
                <a:solidFill>
                  <a:srgbClr val="0F172A"/>
                </a:solidFill>
                <a:latin typeface="Microsoft YaHei"/>
                <a:ea typeface="Microsoft YaHei"/>
              </a:rPr>
              <a:t>member(1)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7863840" y="1856232"/>
            <a:ext cx="1325880" cy="356616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000">
                <a:solidFill>
                  <a:srgbClr val="0F172A"/>
                </a:solidFill>
                <a:latin typeface="Microsoft YaHei"/>
                <a:ea typeface="Microsoft YaHei"/>
              </a:rPr>
              <a:t>(1,1)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9189719" y="1856232"/>
            <a:ext cx="1417320" cy="356616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000">
                <a:solidFill>
                  <a:srgbClr val="0F172A"/>
                </a:solidFill>
                <a:latin typeface="Microsoft YaHei"/>
                <a:ea typeface="Microsoft YaHei"/>
              </a:rPr>
              <a:t>member(1)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5440680" y="2212848"/>
            <a:ext cx="1325880" cy="356616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000">
                <a:solidFill>
                  <a:srgbClr val="0F172A"/>
                </a:solidFill>
                <a:latin typeface="Microsoft YaHei"/>
                <a:ea typeface="Microsoft YaHei"/>
              </a:rPr>
              <a:t>(1,2)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6766560" y="2212848"/>
            <a:ext cx="1097280" cy="356616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000">
                <a:solidFill>
                  <a:srgbClr val="0F172A"/>
                </a:solidFill>
                <a:latin typeface="Microsoft YaHei"/>
                <a:ea typeface="Microsoft YaHei"/>
              </a:rPr>
              <a:t>member(1)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7863840" y="2212848"/>
            <a:ext cx="1325880" cy="356616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000">
                <a:solidFill>
                  <a:srgbClr val="0F172A"/>
                </a:solidFill>
                <a:latin typeface="Microsoft YaHei"/>
                <a:ea typeface="Microsoft YaHei"/>
              </a:rPr>
              <a:t>(1,2)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9189719" y="2212848"/>
            <a:ext cx="1417320" cy="356616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000">
                <a:solidFill>
                  <a:srgbClr val="0F172A"/>
                </a:solidFill>
                <a:latin typeface="Microsoft YaHei"/>
                <a:ea typeface="Microsoft YaHei"/>
              </a:rPr>
              <a:t>teardown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5440680" y="2569464"/>
            <a:ext cx="1325880" cy="356616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000">
                <a:solidFill>
                  <a:srgbClr val="0F172A"/>
                </a:solidFill>
                <a:latin typeface="Microsoft YaHei"/>
                <a:ea typeface="Microsoft YaHei"/>
              </a:rPr>
              <a:t>(2,0)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6766560" y="2569464"/>
            <a:ext cx="1097280" cy="356616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000">
                <a:solidFill>
                  <a:srgbClr val="0F172A"/>
                </a:solidFill>
                <a:latin typeface="Microsoft YaHei"/>
                <a:ea typeface="Microsoft YaHei"/>
              </a:rPr>
              <a:t>setup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7863840" y="2569464"/>
            <a:ext cx="1325880" cy="356616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000">
                <a:solidFill>
                  <a:srgbClr val="0F172A"/>
                </a:solidFill>
                <a:latin typeface="Microsoft YaHei"/>
                <a:ea typeface="Microsoft YaHei"/>
              </a:rPr>
              <a:t>(2,0)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9189719" y="2569464"/>
            <a:ext cx="1417320" cy="356616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000">
                <a:solidFill>
                  <a:srgbClr val="0F172A"/>
                </a:solidFill>
                <a:latin typeface="Microsoft YaHei"/>
                <a:ea typeface="Microsoft YaHei"/>
              </a:rPr>
              <a:t>member(2)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5440680" y="2926080"/>
            <a:ext cx="1325880" cy="356616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000">
                <a:solidFill>
                  <a:srgbClr val="0F172A"/>
                </a:solidFill>
                <a:latin typeface="Microsoft YaHei"/>
                <a:ea typeface="Microsoft YaHei"/>
              </a:rPr>
              <a:t>(2,1)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6766560" y="2926080"/>
            <a:ext cx="1097280" cy="356616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000">
                <a:solidFill>
                  <a:srgbClr val="0F172A"/>
                </a:solidFill>
                <a:latin typeface="Microsoft YaHei"/>
                <a:ea typeface="Microsoft YaHei"/>
              </a:rPr>
              <a:t>member(2)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7863840" y="2926080"/>
            <a:ext cx="1325880" cy="356616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000">
                <a:solidFill>
                  <a:srgbClr val="0F172A"/>
                </a:solidFill>
                <a:latin typeface="Microsoft YaHei"/>
                <a:ea typeface="Microsoft YaHei"/>
              </a:rPr>
              <a:t>(2,1)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9189719" y="2926080"/>
            <a:ext cx="1417320" cy="356616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000">
                <a:solidFill>
                  <a:srgbClr val="0F172A"/>
                </a:solidFill>
                <a:latin typeface="Microsoft YaHei"/>
                <a:ea typeface="Microsoft YaHei"/>
              </a:rPr>
              <a:t>teardown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5440680" y="3282696"/>
            <a:ext cx="1325880" cy="356616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000">
                <a:solidFill>
                  <a:srgbClr val="0F172A"/>
                </a:solidFill>
                <a:latin typeface="Microsoft YaHei"/>
                <a:ea typeface="Microsoft YaHei"/>
              </a:rPr>
              <a:t>(3,0)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6766560" y="3282696"/>
            <a:ext cx="1097280" cy="356616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000">
                <a:solidFill>
                  <a:srgbClr val="0F172A"/>
                </a:solidFill>
                <a:latin typeface="Microsoft YaHei"/>
                <a:ea typeface="Microsoft YaHei"/>
              </a:rPr>
              <a:t>setup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7863840" y="3282696"/>
            <a:ext cx="1325880" cy="356616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000">
                <a:solidFill>
                  <a:srgbClr val="0F172A"/>
                </a:solidFill>
                <a:latin typeface="Microsoft YaHei"/>
                <a:ea typeface="Microsoft YaHei"/>
              </a:rPr>
              <a:t>(3,0)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9189719" y="3282696"/>
            <a:ext cx="1417320" cy="356616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000">
                <a:solidFill>
                  <a:srgbClr val="0F172A"/>
                </a:solidFill>
                <a:latin typeface="Microsoft YaHei"/>
                <a:ea typeface="Microsoft YaHei"/>
              </a:rPr>
              <a:t>teardown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731520" y="4800600"/>
            <a:ext cx="10652760" cy="685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91440" rIns="91440" tIns="45720" bIns="45720"/>
          <a:lstStyle/>
          <a:p>
            <a:r>
              <a:rPr lang="zh-CN" sz="2200">
                <a:solidFill>
                  <a:srgbClr val="0F172A"/>
                </a:solidFill>
                <a:latin typeface="Microsoft YaHei"/>
                <a:ea typeface="Microsoft YaHei"/>
              </a:rPr>
              <a:t>检查 RAM reads ~ writes，同时检查 Set reads ~ writes；Set 表按 tuple 排序展示多重集合相等。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02920" y="256032"/>
            <a:ext cx="11155680" cy="530352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/>
          <a:lstStyle/>
          <a:p>
            <a:r>
              <a:rPr lang="zh-CN" sz="3000" b="1">
                <a:solidFill>
                  <a:srgbClr val="0F172A"/>
                </a:solidFill>
                <a:latin typeface="Microsoft YaHei"/>
                <a:ea typeface="Microsoft YaHei"/>
              </a:rPr>
              <a:t>为什么不用显式检查 latest write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566928" y="786384"/>
            <a:ext cx="10881360" cy="347472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/>
          <a:lstStyle/>
          <a:p>
            <a:r>
              <a:rPr lang="zh-CN" sz="1400">
                <a:solidFill>
                  <a:srgbClr val="475569"/>
                </a:solidFill>
                <a:latin typeface="Microsoft YaHei"/>
                <a:ea typeface="Microsoft YaHei"/>
              </a:rPr>
              <a:t>局部时间检查 + 全局 permutation 已经隐含了最新性。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77240" y="1280160"/>
            <a:ext cx="3429000" cy="2926080"/>
          </a:xfrm>
          <a:prstGeom prst="roundRect">
            <a:avLst/>
          </a:prstGeom>
          <a:solidFill>
            <a:srgbClr val="FEF3C7"/>
          </a:solidFill>
          <a:ln w="9525">
            <a:solidFill>
              <a:srgbClr val="D97706"/>
            </a:solidFill>
          </a:ln>
        </p:spPr>
        <p:txBody>
          <a:bodyPr wrap="square" lIns="91440" rIns="91440" tIns="45720" bIns="45720"/>
          <a:lstStyle/>
          <a:p>
            <a:r>
              <a:rPr lang="zh-CN" sz="2100">
                <a:solidFill>
                  <a:srgbClr val="0F172A"/>
                </a:solidFill>
                <a:latin typeface="Microsoft YaHei"/>
                <a:ea typeface="Microsoft YaHei"/>
              </a:rPr>
              <a:t>1. RAM reads ~ writes</a:t>
            </a:r>
          </a:p>
          <a:p>
            <a:endParaRPr/>
          </a:p>
          <a:p>
            <a:r>
              <a:rPr lang="zh-CN" sz="2100">
                <a:solidFill>
                  <a:srgbClr val="0F172A"/>
                </a:solidFill>
                <a:latin typeface="Microsoft YaHei"/>
                <a:ea typeface="Microsoft YaHei"/>
              </a:rPr>
              <a:t>每个读到的</a:t>
            </a:r>
          </a:p>
          <a:p>
            <a:r>
              <a:rPr lang="zh-CN" sz="2100">
                <a:solidFill>
                  <a:srgbClr val="0F172A"/>
                </a:solidFill>
                <a:latin typeface="Microsoft YaHei"/>
                <a:ea typeface="Microsoft YaHei"/>
              </a:rPr>
              <a:t>(addr, value, t)</a:t>
            </a:r>
          </a:p>
          <a:p>
            <a:r>
              <a:rPr lang="zh-CN" sz="2100">
                <a:solidFill>
                  <a:srgbClr val="0F172A"/>
                </a:solidFill>
                <a:latin typeface="Microsoft YaHei"/>
                <a:ea typeface="Microsoft YaHei"/>
              </a:rPr>
              <a:t>必须真的曾经写入。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4434840" y="1280160"/>
            <a:ext cx="3429000" cy="2926080"/>
          </a:xfrm>
          <a:prstGeom prst="roundRect">
            <a:avLst/>
          </a:prstGeom>
          <a:solidFill>
            <a:srgbClr val="DCFCE7"/>
          </a:solidFill>
          <a:ln w="9525">
            <a:solidFill>
              <a:srgbClr val="16A34A"/>
            </a:solidFill>
          </a:ln>
        </p:spPr>
        <p:txBody>
          <a:bodyPr wrap="square" lIns="91440" rIns="91440" tIns="45720" bIns="45720"/>
          <a:lstStyle/>
          <a:p>
            <a:r>
              <a:rPr lang="zh-CN" sz="2100">
                <a:solidFill>
                  <a:srgbClr val="0F172A"/>
                </a:solidFill>
                <a:latin typeface="Microsoft YaHei"/>
                <a:ea typeface="Microsoft YaHei"/>
              </a:rPr>
              <a:t>2. member(clock - t)</a:t>
            </a:r>
          </a:p>
          <a:p>
            <a:endParaRPr/>
          </a:p>
          <a:p>
            <a:r>
              <a:rPr lang="zh-CN" sz="2100">
                <a:solidFill>
                  <a:srgbClr val="0F172A"/>
                </a:solidFill>
                <a:latin typeface="Microsoft YaHei"/>
                <a:ea typeface="Microsoft YaHei"/>
              </a:rPr>
              <a:t>读到的写入时间</a:t>
            </a:r>
          </a:p>
          <a:p>
            <a:r>
              <a:rPr lang="zh-CN" sz="2100">
                <a:solidFill>
                  <a:srgbClr val="0F172A"/>
                </a:solidFill>
                <a:latin typeface="Microsoft YaHei"/>
                <a:ea typeface="Microsoft YaHei"/>
              </a:rPr>
              <a:t>必须严格早于</a:t>
            </a:r>
          </a:p>
          <a:p>
            <a:r>
              <a:rPr lang="zh-CN" sz="2100">
                <a:solidFill>
                  <a:srgbClr val="0F172A"/>
                </a:solidFill>
                <a:latin typeface="Microsoft YaHei"/>
                <a:ea typeface="Microsoft YaHei"/>
              </a:rPr>
              <a:t>当前 clock。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8092440" y="1280160"/>
            <a:ext cx="3429000" cy="2926080"/>
          </a:xfrm>
          <a:prstGeom prst="roundRect">
            <a:avLst/>
          </a:prstGeom>
          <a:solidFill>
            <a:srgbClr val="E0F2FE"/>
          </a:solidFill>
          <a:ln w="9525">
            <a:solidFill>
              <a:srgbClr val="0284C7"/>
            </a:solidFill>
          </a:ln>
        </p:spPr>
        <p:txBody>
          <a:bodyPr wrap="square" lIns="91440" rIns="91440" tIns="45720" bIns="45720"/>
          <a:lstStyle/>
          <a:p>
            <a:r>
              <a:rPr lang="zh-CN" sz="2100">
                <a:solidFill>
                  <a:srgbClr val="0F172A"/>
                </a:solidFill>
                <a:latin typeface="Microsoft YaHei"/>
                <a:ea typeface="Microsoft YaHei"/>
              </a:rPr>
              <a:t>3. 每次访问都写回</a:t>
            </a:r>
          </a:p>
          <a:p>
            <a:endParaRPr/>
          </a:p>
          <a:p>
            <a:r>
              <a:rPr lang="zh-CN" sz="2100">
                <a:solidFill>
                  <a:srgbClr val="0F172A"/>
                </a:solidFill>
                <a:latin typeface="Microsoft YaHei"/>
                <a:ea typeface="Microsoft YaHei"/>
              </a:rPr>
              <a:t>LOAD 写回 old，</a:t>
            </a:r>
          </a:p>
          <a:p>
            <a:r>
              <a:rPr lang="zh-CN" sz="2100">
                <a:solidFill>
                  <a:srgbClr val="0F172A"/>
                </a:solidFill>
                <a:latin typeface="Microsoft YaHei"/>
                <a:ea typeface="Microsoft YaHei"/>
              </a:rPr>
              <a:t>STORE 写入 w，</a:t>
            </a:r>
          </a:p>
          <a:p>
            <a:r>
              <a:rPr lang="zh-CN" sz="2100">
                <a:solidFill>
                  <a:srgbClr val="0F172A"/>
                </a:solidFill>
                <a:latin typeface="Microsoft YaHei"/>
                <a:ea typeface="Microsoft YaHei"/>
              </a:rPr>
              <a:t>未读旧版本会在 shuffle 中暴露。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868680" y="4800600"/>
            <a:ext cx="10378440" cy="7315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91440" rIns="91440" tIns="45720" bIns="45720"/>
          <a:lstStyle/>
          <a:p>
            <a:r>
              <a:rPr lang="zh-CN" sz="2100">
                <a:solidFill>
                  <a:srgbClr val="0F172A"/>
                </a:solidFill>
                <a:latin typeface="Microsoft YaHei"/>
                <a:ea typeface="Microsoft YaHei"/>
              </a:rPr>
              <a:t>因此每个地址始终只剩一个未读的最新写入；下一次访问若不读它，最终 reads ~ writes 无法同时成立。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02920" y="256032"/>
            <a:ext cx="11155680" cy="530352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/>
          <a:lstStyle/>
          <a:p>
            <a:r>
              <a:rPr lang="zh-CN" sz="3000" b="1">
                <a:solidFill>
                  <a:srgbClr val="0F172A"/>
                </a:solidFill>
                <a:latin typeface="Microsoft YaHei"/>
                <a:ea typeface="Microsoft YaHei"/>
              </a:rPr>
              <a:t>总结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566928" y="786384"/>
            <a:ext cx="10881360" cy="347472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/>
          <a:lstStyle/>
          <a:p>
            <a:r>
              <a:rPr lang="zh-CN" sz="1400">
                <a:solidFill>
                  <a:srgbClr val="475569"/>
                </a:solidFill>
                <a:latin typeface="Microsoft YaHei"/>
                <a:ea typeface="Microsoft YaHei"/>
              </a:rPr>
              <a:t>从 PPT 的 ROM 例子到完整 RAM 的最短路径。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77240" y="1234440"/>
            <a:ext cx="10652760" cy="685800"/>
          </a:xfrm>
          <a:prstGeom prst="roundRect">
            <a:avLst/>
          </a:prstGeom>
          <a:solidFill>
            <a:srgbClr val="E0F2FE"/>
          </a:solidFill>
          <a:ln w="9525">
            <a:solidFill>
              <a:srgbClr val="38BDF8"/>
            </a:solidFill>
          </a:ln>
        </p:spPr>
        <p:txBody>
          <a:bodyPr wrap="square" lIns="91440" rIns="91440" tIns="45720" bIns="45720"/>
          <a:lstStyle/>
          <a:p>
            <a:r>
              <a:rPr lang="zh-CN" sz="2300" b="1">
                <a:solidFill>
                  <a:srgbClr val="075985"/>
                </a:solidFill>
                <a:latin typeface="Microsoft YaHei"/>
                <a:ea typeface="Microsoft YaHei"/>
              </a:rPr>
              <a:t>ROM: 维护 (key, value, version)，最后证明 reads ~ writes。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77240" y="2240280"/>
            <a:ext cx="10652760" cy="685800"/>
          </a:xfrm>
          <a:prstGeom prst="roundRect">
            <a:avLst/>
          </a:prstGeom>
          <a:solidFill>
            <a:srgbClr val="DCFCE7"/>
          </a:solidFill>
          <a:ln w="9525">
            <a:solidFill>
              <a:srgbClr val="4ADE80"/>
            </a:solidFill>
          </a:ln>
        </p:spPr>
        <p:txBody>
          <a:bodyPr wrap="square" lIns="91440" rIns="91440" tIns="45720" bIns="45720"/>
          <a:lstStyle/>
          <a:p>
            <a:r>
              <a:rPr lang="zh-CN" sz="2300" b="1">
                <a:solidFill>
                  <a:srgbClr val="166534"/>
                </a:solidFill>
                <a:latin typeface="Microsoft YaHei"/>
                <a:ea typeface="Microsoft YaHei"/>
              </a:rPr>
              <a:t>Set Membership: 维护 (key, version)，member(d) 就是 lookup(d)。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77240" y="3246120"/>
            <a:ext cx="10652760" cy="685800"/>
          </a:xfrm>
          <a:prstGeom prst="roundRect">
            <a:avLst/>
          </a:prstGeom>
          <a:solidFill>
            <a:srgbClr val="FEF3C7"/>
          </a:solidFill>
          <a:ln w="9525">
            <a:solidFill>
              <a:srgbClr val="F59E0B"/>
            </a:solidFill>
          </a:ln>
        </p:spPr>
        <p:txBody>
          <a:bodyPr wrap="square" lIns="91440" rIns="91440" tIns="45720" bIns="45720"/>
          <a:lstStyle/>
          <a:p>
            <a:r>
              <a:rPr lang="zh-CN" sz="2300" b="1">
                <a:solidFill>
                  <a:srgbClr val="92400E"/>
                </a:solidFill>
                <a:latin typeface="Microsoft YaHei"/>
                <a:ea typeface="Microsoft YaHei"/>
              </a:rPr>
              <a:t>RAM: 维护 (address, value, timestamp)，并证明 clock - timestamp ∈ {1,...,T}。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777240" y="4709160"/>
            <a:ext cx="10652760" cy="6400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91440" rIns="91440" tIns="45720" bIns="45720"/>
          <a:lstStyle/>
          <a:p>
            <a:r>
              <a:rPr lang="zh-CN" sz="2500" b="1">
                <a:solidFill>
                  <a:srgbClr val="0F172A"/>
                </a:solidFill>
                <a:latin typeface="Microsoft YaHei"/>
                <a:ea typeface="Microsoft YaHei"/>
              </a:rPr>
              <a:t>最终：two shuffles + 一个 load/store multiplexer = 常数开销 ZK RAM。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odexClean">
  <a:themeElements>
    <a:clrScheme name="CodexClean">
      <a:dk1>
        <a:srgbClr val="111827"/>
      </a:dk1>
      <a:lt1>
        <a:srgbClr val="F8FAFC"/>
      </a:lt1>
      <a:dk2>
        <a:srgbClr val="334155"/>
      </a:dk2>
      <a:lt2>
        <a:srgbClr val="FFFFFF"/>
      </a:lt2>
      <a:accent1>
        <a:srgbClr val="2563EB"/>
      </a:accent1>
      <a:accent2>
        <a:srgbClr val="16A34A"/>
      </a:accent2>
      <a:accent3>
        <a:srgbClr val="D97706"/>
      </a:accent3>
      <a:accent4>
        <a:srgbClr val="0284C7"/>
      </a:accent4>
      <a:accent5>
        <a:srgbClr val="9333EA"/>
      </a:accent5>
      <a:accent6>
        <a:srgbClr val="DC2626"/>
      </a:accent6>
      <a:hlink>
        <a:srgbClr val="2563EB"/>
      </a:hlink>
      <a:folHlink>
        <a:srgbClr val="7C3AED"/>
      </a:folHlink>
    </a:clrScheme>
    <a:fontScheme name="CodexFonts">
      <a:majorFont>
        <a:latin typeface="Microsoft YaHei"/>
        <a:ea typeface="Microsoft YaHei"/>
        <a:cs typeface="Arial"/>
      </a:majorFont>
      <a:minorFont>
        <a:latin typeface="Microsoft YaHei"/>
        <a:ea typeface="Microsoft YaHei"/>
        <a:cs typeface="Arial"/>
      </a:minorFont>
    </a:fontScheme>
    <a:fmtScheme name="CodexFmt">
      <a:fillStyleLst>
        <a:solidFill>
          <a:schemeClr val="phClr"/>
        </a:solidFill>
        <a:solidFill>
          <a:schemeClr val="phClr">
            <a:tint val="50000"/>
            <a:satMod val="300000"/>
          </a:schemeClr>
        </a:solidFill>
        <a:solidFill>
          <a:schemeClr val="phClr">
            <a:tint val="20000"/>
            <a:satMod val="255000"/>
          </a:schemeClr>
        </a:soli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solidFill>
          <a:schemeClr val="phClr">
            <a:shade val="60000"/>
            <a:satMod val="120000"/>
          </a:schemeClr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Codex</Application>
  <PresentationFormat>Widescreen</PresentationFormat>
  <Slides>11</Slides>
  <Company>OpenAI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ROM Set Membership to RAM</dc:title>
  <dc:creator>Codex</dc:creator>
  <cp:lastModifiedBy>Codex</cp:lastModifiedBy>
  <dcterms:created xsi:type="dcterms:W3CDTF">2026-06-02T09:14:52+00:00</dcterms:created>
  <dcterms:modified xsi:type="dcterms:W3CDTF">2026-06-02T09:14:52+00:00</dcterms:modified>
</cp:coreProperties>
</file>